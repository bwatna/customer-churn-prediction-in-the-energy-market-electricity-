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Calibri" panose="020F0502020204030204" pitchFamily="34" charset="0"/>
      <p:regular r:id="rId11"/>
      <p:bold r:id="rId12"/>
      <p:italic r:id="rId13"/>
      <p:boldItalic r:id="rId14"/>
    </p:embeddedFont>
    <p:embeddedFont>
      <p:font typeface="Open Sans"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101" y="1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6917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7708"/>
            <a:ext cx="5486400" cy="8229600"/>
          </a:xfrm>
          <a:prstGeom prst="rect">
            <a:avLst/>
          </a:prstGeom>
        </p:spPr>
      </p:pic>
      <p:sp>
        <p:nvSpPr>
          <p:cNvPr id="3" name="Text 0"/>
          <p:cNvSpPr/>
          <p:nvPr/>
        </p:nvSpPr>
        <p:spPr>
          <a:xfrm>
            <a:off x="6267807" y="696397"/>
            <a:ext cx="7581186" cy="2790825"/>
          </a:xfrm>
          <a:prstGeom prst="rect">
            <a:avLst/>
          </a:prstGeom>
          <a:noFill/>
          <a:ln/>
        </p:spPr>
        <p:txBody>
          <a:bodyPr wrap="square" lIns="0" tIns="0" rIns="0" bIns="0" rtlCol="0" anchor="t"/>
          <a:lstStyle/>
          <a:p>
            <a:pPr marL="0" indent="0" algn="l">
              <a:lnSpc>
                <a:spcPts val="5450"/>
              </a:lnSpc>
              <a:buNone/>
            </a:pPr>
            <a:r>
              <a:rPr lang="en-US" sz="4350" b="1" dirty="0">
                <a:solidFill>
                  <a:srgbClr val="403C4E"/>
                </a:solidFill>
                <a:latin typeface="Merriweather Bold" pitchFamily="34" charset="0"/>
                <a:ea typeface="Merriweather Bold" pitchFamily="34" charset="-122"/>
                <a:cs typeface="Merriweather Bold" pitchFamily="34" charset="-120"/>
              </a:rPr>
              <a:t>Predicting Customer Churn for Abuja Electricity Distribution Company (AEDC)</a:t>
            </a:r>
            <a:endParaRPr lang="en-US" sz="4350" dirty="0"/>
          </a:p>
        </p:txBody>
      </p:sp>
      <p:sp>
        <p:nvSpPr>
          <p:cNvPr id="4" name="Text 1"/>
          <p:cNvSpPr/>
          <p:nvPr/>
        </p:nvSpPr>
        <p:spPr>
          <a:xfrm>
            <a:off x="6267807" y="3816906"/>
            <a:ext cx="7581186" cy="708660"/>
          </a:xfrm>
          <a:prstGeom prst="rect">
            <a:avLst/>
          </a:prstGeom>
          <a:noFill/>
          <a:ln/>
        </p:spPr>
        <p:txBody>
          <a:bodyPr wrap="square" lIns="0" tIns="0" rIns="0" bIns="0" rtlCol="0" anchor="t"/>
          <a:lstStyle/>
          <a:p>
            <a:pPr marL="0" indent="0" algn="l">
              <a:lnSpc>
                <a:spcPts val="2750"/>
              </a:lnSpc>
              <a:buNone/>
            </a:pPr>
            <a:r>
              <a:rPr lang="en-US" sz="1750" dirty="0">
                <a:solidFill>
                  <a:srgbClr val="403C4E"/>
                </a:solidFill>
                <a:latin typeface="Open Sans" pitchFamily="34" charset="0"/>
                <a:ea typeface="Open Sans" pitchFamily="34" charset="-122"/>
                <a:cs typeface="Open Sans" pitchFamily="34" charset="-120"/>
              </a:rPr>
              <a:t> Identify customers likely to stop using AEDC and enable proactive retention actions. </a:t>
            </a:r>
            <a:endParaRPr lang="en-US" sz="1750" dirty="0"/>
          </a:p>
        </p:txBody>
      </p:sp>
      <p:sp>
        <p:nvSpPr>
          <p:cNvPr id="5" name="Text 2"/>
          <p:cNvSpPr/>
          <p:nvPr/>
        </p:nvSpPr>
        <p:spPr>
          <a:xfrm>
            <a:off x="6267807" y="4772739"/>
            <a:ext cx="7581186" cy="354330"/>
          </a:xfrm>
          <a:prstGeom prst="rect">
            <a:avLst/>
          </a:prstGeom>
          <a:noFill/>
          <a:ln/>
        </p:spPr>
        <p:txBody>
          <a:bodyPr wrap="none" lIns="0" tIns="0" rIns="0" bIns="0" rtlCol="0" anchor="t"/>
          <a:lstStyle/>
          <a:p>
            <a:pPr marL="0" indent="0" algn="l">
              <a:lnSpc>
                <a:spcPts val="2750"/>
              </a:lnSpc>
              <a:buNone/>
            </a:pPr>
            <a:endParaRPr lang="en-US" sz="1750" dirty="0"/>
          </a:p>
        </p:txBody>
      </p:sp>
      <p:sp>
        <p:nvSpPr>
          <p:cNvPr id="6" name="Text 3"/>
          <p:cNvSpPr/>
          <p:nvPr/>
        </p:nvSpPr>
        <p:spPr>
          <a:xfrm>
            <a:off x="6267807" y="5374243"/>
            <a:ext cx="7581186" cy="354330"/>
          </a:xfrm>
          <a:prstGeom prst="rect">
            <a:avLst/>
          </a:prstGeom>
          <a:noFill/>
          <a:ln/>
        </p:spPr>
        <p:txBody>
          <a:bodyPr wrap="none" lIns="0" tIns="0" rIns="0" bIns="0" rtlCol="0" anchor="t"/>
          <a:lstStyle/>
          <a:p>
            <a:pPr marL="0" indent="0" algn="l">
              <a:lnSpc>
                <a:spcPts val="2750"/>
              </a:lnSpc>
              <a:buNone/>
            </a:pPr>
            <a:r>
              <a:rPr lang="en-US" sz="1750" dirty="0">
                <a:solidFill>
                  <a:srgbClr val="403C4E"/>
                </a:solidFill>
                <a:latin typeface="Open Sans" pitchFamily="34" charset="0"/>
                <a:ea typeface="Open Sans" pitchFamily="34" charset="-122"/>
                <a:cs typeface="Open Sans" pitchFamily="34" charset="-120"/>
              </a:rPr>
              <a:t>    Mentee: Bwatna Kuyembo </a:t>
            </a:r>
            <a:endParaRPr lang="en-US" sz="1750" dirty="0"/>
          </a:p>
        </p:txBody>
      </p:sp>
      <p:sp>
        <p:nvSpPr>
          <p:cNvPr id="7" name="Text 4"/>
          <p:cNvSpPr/>
          <p:nvPr/>
        </p:nvSpPr>
        <p:spPr>
          <a:xfrm>
            <a:off x="6267807" y="5975747"/>
            <a:ext cx="7581186" cy="354330"/>
          </a:xfrm>
          <a:prstGeom prst="rect">
            <a:avLst/>
          </a:prstGeom>
          <a:noFill/>
          <a:ln/>
        </p:spPr>
        <p:txBody>
          <a:bodyPr wrap="none" lIns="0" tIns="0" rIns="0" bIns="0" rtlCol="0" anchor="t"/>
          <a:lstStyle/>
          <a:p>
            <a:pPr marL="0" indent="0" algn="l">
              <a:lnSpc>
                <a:spcPts val="2750"/>
              </a:lnSpc>
              <a:buNone/>
            </a:pPr>
            <a:r>
              <a:rPr lang="en-US" sz="1750" dirty="0">
                <a:solidFill>
                  <a:srgbClr val="403C4E"/>
                </a:solidFill>
                <a:latin typeface="Open Sans" pitchFamily="34" charset="0"/>
                <a:ea typeface="Open Sans" pitchFamily="34" charset="-122"/>
                <a:cs typeface="Open Sans" pitchFamily="34" charset="-120"/>
              </a:rPr>
              <a:t>    Mentor: Mr. Isreal Odeajo </a:t>
            </a:r>
            <a:endParaRPr lang="en-US" sz="1750" dirty="0"/>
          </a:p>
        </p:txBody>
      </p:sp>
      <p:sp>
        <p:nvSpPr>
          <p:cNvPr id="8" name="Text 5"/>
          <p:cNvSpPr/>
          <p:nvPr/>
        </p:nvSpPr>
        <p:spPr>
          <a:xfrm>
            <a:off x="6267807" y="6577251"/>
            <a:ext cx="7581186" cy="354330"/>
          </a:xfrm>
          <a:prstGeom prst="rect">
            <a:avLst/>
          </a:prstGeom>
          <a:noFill/>
          <a:ln/>
        </p:spPr>
        <p:txBody>
          <a:bodyPr wrap="none" lIns="0" tIns="0" rIns="0" bIns="0" rtlCol="0" anchor="t"/>
          <a:lstStyle/>
          <a:p>
            <a:pPr marL="0" indent="0" algn="l">
              <a:lnSpc>
                <a:spcPts val="2750"/>
              </a:lnSpc>
              <a:buNone/>
            </a:pPr>
            <a:r>
              <a:rPr lang="en-US" sz="1750" dirty="0">
                <a:solidFill>
                  <a:srgbClr val="403C4E"/>
                </a:solidFill>
                <a:latin typeface="Open Sans" pitchFamily="34" charset="0"/>
                <a:ea typeface="Open Sans" pitchFamily="34" charset="-122"/>
                <a:cs typeface="Open Sans" pitchFamily="34" charset="-120"/>
              </a:rPr>
              <a:t>    Group: 3MTT C2 Data Science (116). </a:t>
            </a:r>
            <a:endParaRPr lang="en-US" sz="1750" dirty="0"/>
          </a:p>
        </p:txBody>
      </p:sp>
      <p:sp>
        <p:nvSpPr>
          <p:cNvPr id="9" name="Text 6"/>
          <p:cNvSpPr/>
          <p:nvPr/>
        </p:nvSpPr>
        <p:spPr>
          <a:xfrm>
            <a:off x="6267807" y="7178754"/>
            <a:ext cx="7581186" cy="354330"/>
          </a:xfrm>
          <a:prstGeom prst="rect">
            <a:avLst/>
          </a:prstGeom>
          <a:noFill/>
          <a:ln/>
        </p:spPr>
        <p:txBody>
          <a:bodyPr wrap="none" lIns="0" tIns="0" rIns="0" bIns="0" rtlCol="0" anchor="t"/>
          <a:lstStyle/>
          <a:p>
            <a:pPr marL="0" indent="0" algn="l">
              <a:lnSpc>
                <a:spcPts val="2750"/>
              </a:lnSpc>
              <a:buNone/>
            </a:pPr>
            <a:r>
              <a:rPr lang="en-US" sz="1750" dirty="0">
                <a:solidFill>
                  <a:srgbClr val="403C4E"/>
                </a:solidFill>
                <a:latin typeface="Open Sans" pitchFamily="34" charset="0"/>
                <a:ea typeface="Open Sans" pitchFamily="34" charset="-122"/>
                <a:cs typeface="Open Sans" pitchFamily="34" charset="-120"/>
              </a:rPr>
              <a:t> </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31044"/>
            <a:ext cx="7229713" cy="538758"/>
          </a:xfrm>
          <a:prstGeom prst="rect">
            <a:avLst/>
          </a:prstGeom>
          <a:noFill/>
          <a:ln/>
        </p:spPr>
        <p:txBody>
          <a:bodyPr wrap="none" lIns="0" tIns="0" rIns="0" bIns="0" rtlCol="0" anchor="t"/>
          <a:lstStyle/>
          <a:p>
            <a:pPr marL="0" indent="0" algn="l">
              <a:lnSpc>
                <a:spcPts val="4200"/>
              </a:lnSpc>
              <a:buNone/>
            </a:pPr>
            <a:r>
              <a:rPr lang="en-US" sz="3350" b="1" dirty="0">
                <a:solidFill>
                  <a:srgbClr val="403C4E"/>
                </a:solidFill>
                <a:latin typeface="Merriweather Bold" pitchFamily="34" charset="0"/>
                <a:ea typeface="Merriweather Bold" pitchFamily="34" charset="-122"/>
                <a:cs typeface="Merriweather Bold" pitchFamily="34" charset="-120"/>
              </a:rPr>
              <a:t>A Day that Becomes a Churn Story</a:t>
            </a:r>
            <a:endParaRPr lang="en-US" sz="3350" dirty="0"/>
          </a:p>
        </p:txBody>
      </p:sp>
      <p:sp>
        <p:nvSpPr>
          <p:cNvPr id="4" name="Text 1"/>
          <p:cNvSpPr/>
          <p:nvPr/>
        </p:nvSpPr>
        <p:spPr>
          <a:xfrm>
            <a:off x="6280190" y="1576864"/>
            <a:ext cx="7556421" cy="1008340"/>
          </a:xfrm>
          <a:prstGeom prst="rect">
            <a:avLst/>
          </a:prstGeom>
          <a:noFill/>
          <a:ln/>
        </p:spPr>
        <p:txBody>
          <a:bodyPr wrap="square" lIns="0" tIns="0" rIns="0" bIns="0" rtlCol="0" anchor="t"/>
          <a:lstStyle/>
          <a:p>
            <a:pPr marL="0" indent="0" algn="l">
              <a:lnSpc>
                <a:spcPts val="2600"/>
              </a:lnSpc>
              <a:buNone/>
            </a:pPr>
            <a:r>
              <a:rPr lang="en-US" sz="1650" dirty="0">
                <a:solidFill>
                  <a:srgbClr val="403C4E"/>
                </a:solidFill>
                <a:latin typeface="Open Sans" pitchFamily="34" charset="0"/>
                <a:ea typeface="Open Sans" pitchFamily="34" charset="-122"/>
                <a:cs typeface="Open Sans" pitchFamily="34" charset="-120"/>
              </a:rPr>
              <a:t> Visual narrative: billing surprise + unresolved complaints + an easy off-grid alternative = lost customer. This single-frame story highlights the trigger sequence AEDC must interrupt. </a:t>
            </a:r>
            <a:endParaRPr lang="en-US" sz="1650" dirty="0"/>
          </a:p>
        </p:txBody>
      </p:sp>
      <p:sp>
        <p:nvSpPr>
          <p:cNvPr id="5" name="Shape 2"/>
          <p:cNvSpPr/>
          <p:nvPr/>
        </p:nvSpPr>
        <p:spPr>
          <a:xfrm>
            <a:off x="6280190" y="3138607"/>
            <a:ext cx="3675817" cy="2252186"/>
          </a:xfrm>
          <a:prstGeom prst="roundRect">
            <a:avLst>
              <a:gd name="adj" fmla="val 6496"/>
            </a:avLst>
          </a:prstGeom>
          <a:solidFill>
            <a:srgbClr val="FFFFFF"/>
          </a:solidFill>
          <a:ln/>
        </p:spPr>
      </p:sp>
      <p:sp>
        <p:nvSpPr>
          <p:cNvPr id="6" name="Shape 3"/>
          <p:cNvSpPr/>
          <p:nvPr/>
        </p:nvSpPr>
        <p:spPr>
          <a:xfrm>
            <a:off x="6280190" y="3108127"/>
            <a:ext cx="3675817" cy="121920"/>
          </a:xfrm>
          <a:prstGeom prst="roundRect">
            <a:avLst>
              <a:gd name="adj" fmla="val 74233"/>
            </a:avLst>
          </a:prstGeom>
          <a:solidFill>
            <a:srgbClr val="FFAD94"/>
          </a:solidFill>
          <a:ln/>
        </p:spPr>
      </p:sp>
      <p:sp>
        <p:nvSpPr>
          <p:cNvPr id="7" name="Shape 4"/>
          <p:cNvSpPr/>
          <p:nvPr/>
        </p:nvSpPr>
        <p:spPr>
          <a:xfrm>
            <a:off x="7794843" y="2815471"/>
            <a:ext cx="646390" cy="646390"/>
          </a:xfrm>
          <a:prstGeom prst="roundRect">
            <a:avLst>
              <a:gd name="adj" fmla="val 141463"/>
            </a:avLst>
          </a:prstGeom>
          <a:solidFill>
            <a:srgbClr val="FFAD94"/>
          </a:solidFill>
          <a:ln/>
        </p:spPr>
      </p:sp>
      <p:sp>
        <p:nvSpPr>
          <p:cNvPr id="8" name="Text 5"/>
          <p:cNvSpPr/>
          <p:nvPr/>
        </p:nvSpPr>
        <p:spPr>
          <a:xfrm>
            <a:off x="7988796" y="2977039"/>
            <a:ext cx="258485" cy="323136"/>
          </a:xfrm>
          <a:prstGeom prst="rect">
            <a:avLst/>
          </a:prstGeom>
          <a:noFill/>
          <a:ln/>
        </p:spPr>
        <p:txBody>
          <a:bodyPr wrap="none" lIns="0" tIns="0" rIns="0" bIns="0" rtlCol="0" anchor="t"/>
          <a:lstStyle/>
          <a:p>
            <a:pPr marL="0" indent="0" algn="l">
              <a:lnSpc>
                <a:spcPts val="3150"/>
              </a:lnSpc>
              <a:buNone/>
            </a:pPr>
            <a:r>
              <a:rPr lang="en-US" sz="2000" b="1" dirty="0">
                <a:solidFill>
                  <a:srgbClr val="000000"/>
                </a:solidFill>
                <a:latin typeface="Merriweather Bold" pitchFamily="34" charset="0"/>
                <a:ea typeface="Merriweather Bold" pitchFamily="34" charset="-122"/>
                <a:cs typeface="Merriweather Bold" pitchFamily="34" charset="-120"/>
              </a:rPr>
              <a:t>1</a:t>
            </a:r>
            <a:endParaRPr lang="en-US" sz="2000" dirty="0"/>
          </a:p>
        </p:txBody>
      </p:sp>
      <p:sp>
        <p:nvSpPr>
          <p:cNvPr id="9" name="Text 6"/>
          <p:cNvSpPr/>
          <p:nvPr/>
        </p:nvSpPr>
        <p:spPr>
          <a:xfrm>
            <a:off x="6526054" y="3677245"/>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403C4E"/>
                </a:solidFill>
                <a:latin typeface="Merriweather Bold" pitchFamily="34" charset="0"/>
                <a:ea typeface="Merriweather Bold" pitchFamily="34" charset="-122"/>
                <a:cs typeface="Merriweather Bold" pitchFamily="34" charset="-120"/>
              </a:rPr>
              <a:t> Billing Shock</a:t>
            </a:r>
            <a:endParaRPr lang="en-US" sz="2100" dirty="0"/>
          </a:p>
        </p:txBody>
      </p:sp>
      <p:sp>
        <p:nvSpPr>
          <p:cNvPr id="10" name="Text 7"/>
          <p:cNvSpPr/>
          <p:nvPr/>
        </p:nvSpPr>
        <p:spPr>
          <a:xfrm>
            <a:off x="6526054" y="4136588"/>
            <a:ext cx="3184088" cy="672227"/>
          </a:xfrm>
          <a:prstGeom prst="rect">
            <a:avLst/>
          </a:prstGeom>
          <a:noFill/>
          <a:ln/>
        </p:spPr>
        <p:txBody>
          <a:bodyPr wrap="square" lIns="0" tIns="0" rIns="0" bIns="0" rtlCol="0" anchor="t"/>
          <a:lstStyle/>
          <a:p>
            <a:pPr marL="0" indent="0" algn="l">
              <a:lnSpc>
                <a:spcPts val="2600"/>
              </a:lnSpc>
              <a:buNone/>
            </a:pPr>
            <a:r>
              <a:rPr lang="en-US" sz="1650" dirty="0">
                <a:solidFill>
                  <a:srgbClr val="403C4E"/>
                </a:solidFill>
                <a:latin typeface="Open Sans" pitchFamily="34" charset="0"/>
                <a:ea typeface="Open Sans" pitchFamily="34" charset="-122"/>
                <a:cs typeface="Open Sans" pitchFamily="34" charset="-120"/>
              </a:rPr>
              <a:t>Unexpected bill increases without clear explanation.</a:t>
            </a:r>
            <a:endParaRPr lang="en-US" sz="1650" dirty="0"/>
          </a:p>
        </p:txBody>
      </p:sp>
      <p:sp>
        <p:nvSpPr>
          <p:cNvPr id="11" name="Shape 8"/>
          <p:cNvSpPr/>
          <p:nvPr/>
        </p:nvSpPr>
        <p:spPr>
          <a:xfrm>
            <a:off x="10160675" y="3138607"/>
            <a:ext cx="3675936" cy="2252186"/>
          </a:xfrm>
          <a:prstGeom prst="roundRect">
            <a:avLst>
              <a:gd name="adj" fmla="val 6496"/>
            </a:avLst>
          </a:prstGeom>
          <a:solidFill>
            <a:srgbClr val="FFFFFF"/>
          </a:solidFill>
          <a:ln/>
        </p:spPr>
      </p:sp>
      <p:sp>
        <p:nvSpPr>
          <p:cNvPr id="12" name="Shape 9"/>
          <p:cNvSpPr/>
          <p:nvPr/>
        </p:nvSpPr>
        <p:spPr>
          <a:xfrm>
            <a:off x="10160675" y="3108127"/>
            <a:ext cx="3675936" cy="121920"/>
          </a:xfrm>
          <a:prstGeom prst="roundRect">
            <a:avLst>
              <a:gd name="adj" fmla="val 74233"/>
            </a:avLst>
          </a:prstGeom>
          <a:solidFill>
            <a:srgbClr val="FFAD94"/>
          </a:solidFill>
          <a:ln/>
        </p:spPr>
      </p:sp>
      <p:sp>
        <p:nvSpPr>
          <p:cNvPr id="13" name="Shape 10"/>
          <p:cNvSpPr/>
          <p:nvPr/>
        </p:nvSpPr>
        <p:spPr>
          <a:xfrm>
            <a:off x="11675447" y="2815471"/>
            <a:ext cx="646390" cy="646390"/>
          </a:xfrm>
          <a:prstGeom prst="roundRect">
            <a:avLst>
              <a:gd name="adj" fmla="val 141463"/>
            </a:avLst>
          </a:prstGeom>
          <a:solidFill>
            <a:srgbClr val="FFAD94"/>
          </a:solidFill>
          <a:ln/>
        </p:spPr>
      </p:sp>
      <p:sp>
        <p:nvSpPr>
          <p:cNvPr id="14" name="Text 11"/>
          <p:cNvSpPr/>
          <p:nvPr/>
        </p:nvSpPr>
        <p:spPr>
          <a:xfrm>
            <a:off x="11869400" y="2977039"/>
            <a:ext cx="258485" cy="323136"/>
          </a:xfrm>
          <a:prstGeom prst="rect">
            <a:avLst/>
          </a:prstGeom>
          <a:noFill/>
          <a:ln/>
        </p:spPr>
        <p:txBody>
          <a:bodyPr wrap="none" lIns="0" tIns="0" rIns="0" bIns="0" rtlCol="0" anchor="t"/>
          <a:lstStyle/>
          <a:p>
            <a:pPr marL="0" indent="0" algn="l">
              <a:lnSpc>
                <a:spcPts val="3150"/>
              </a:lnSpc>
              <a:buNone/>
            </a:pPr>
            <a:r>
              <a:rPr lang="en-US" sz="2000" b="1" dirty="0">
                <a:solidFill>
                  <a:srgbClr val="000000"/>
                </a:solidFill>
                <a:latin typeface="Merriweather Bold" pitchFamily="34" charset="0"/>
                <a:ea typeface="Merriweather Bold" pitchFamily="34" charset="-122"/>
                <a:cs typeface="Merriweather Bold" pitchFamily="34" charset="-120"/>
              </a:rPr>
              <a:t>2</a:t>
            </a:r>
            <a:endParaRPr lang="en-US" sz="2000" dirty="0"/>
          </a:p>
        </p:txBody>
      </p:sp>
      <p:sp>
        <p:nvSpPr>
          <p:cNvPr id="15" name="Text 12"/>
          <p:cNvSpPr/>
          <p:nvPr/>
        </p:nvSpPr>
        <p:spPr>
          <a:xfrm>
            <a:off x="10406539" y="3677245"/>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403C4E"/>
                </a:solidFill>
                <a:latin typeface="Merriweather Bold" pitchFamily="34" charset="0"/>
                <a:ea typeface="Merriweather Bold" pitchFamily="34" charset="-122"/>
                <a:cs typeface="Merriweather Bold" pitchFamily="34" charset="-120"/>
              </a:rPr>
              <a:t> Service Friction</a:t>
            </a:r>
            <a:endParaRPr lang="en-US" sz="2100" dirty="0"/>
          </a:p>
        </p:txBody>
      </p:sp>
      <p:sp>
        <p:nvSpPr>
          <p:cNvPr id="16" name="Text 13"/>
          <p:cNvSpPr/>
          <p:nvPr/>
        </p:nvSpPr>
        <p:spPr>
          <a:xfrm>
            <a:off x="10406539" y="4136588"/>
            <a:ext cx="3184208" cy="1008340"/>
          </a:xfrm>
          <a:prstGeom prst="rect">
            <a:avLst/>
          </a:prstGeom>
          <a:noFill/>
          <a:ln/>
        </p:spPr>
        <p:txBody>
          <a:bodyPr wrap="square" lIns="0" tIns="0" rIns="0" bIns="0" rtlCol="0" anchor="t"/>
          <a:lstStyle/>
          <a:p>
            <a:pPr marL="0" indent="0" algn="l">
              <a:lnSpc>
                <a:spcPts val="2600"/>
              </a:lnSpc>
              <a:buNone/>
            </a:pPr>
            <a:r>
              <a:rPr lang="en-US" sz="1650" dirty="0">
                <a:solidFill>
                  <a:srgbClr val="403C4E"/>
                </a:solidFill>
                <a:latin typeface="Open Sans" pitchFamily="34" charset="0"/>
                <a:ea typeface="Open Sans" pitchFamily="34" charset="-122"/>
                <a:cs typeface="Open Sans" pitchFamily="34" charset="-120"/>
              </a:rPr>
              <a:t>Long outage duration and slow/no response from customer care.</a:t>
            </a:r>
            <a:endParaRPr lang="en-US" sz="1650" dirty="0"/>
          </a:p>
        </p:txBody>
      </p:sp>
      <p:sp>
        <p:nvSpPr>
          <p:cNvPr id="17" name="Shape 14"/>
          <p:cNvSpPr/>
          <p:nvPr/>
        </p:nvSpPr>
        <p:spPr>
          <a:xfrm>
            <a:off x="6280190" y="5918597"/>
            <a:ext cx="7556421" cy="1579959"/>
          </a:xfrm>
          <a:prstGeom prst="roundRect">
            <a:avLst>
              <a:gd name="adj" fmla="val 9260"/>
            </a:avLst>
          </a:prstGeom>
          <a:solidFill>
            <a:srgbClr val="FFFFFF"/>
          </a:solidFill>
          <a:ln/>
        </p:spPr>
      </p:sp>
      <p:sp>
        <p:nvSpPr>
          <p:cNvPr id="18" name="Shape 15"/>
          <p:cNvSpPr/>
          <p:nvPr/>
        </p:nvSpPr>
        <p:spPr>
          <a:xfrm>
            <a:off x="6280190" y="5888117"/>
            <a:ext cx="7556421" cy="121920"/>
          </a:xfrm>
          <a:prstGeom prst="roundRect">
            <a:avLst>
              <a:gd name="adj" fmla="val 74233"/>
            </a:avLst>
          </a:prstGeom>
          <a:solidFill>
            <a:srgbClr val="FFAD94"/>
          </a:solidFill>
          <a:ln/>
        </p:spPr>
      </p:sp>
      <p:sp>
        <p:nvSpPr>
          <p:cNvPr id="19" name="Shape 16"/>
          <p:cNvSpPr/>
          <p:nvPr/>
        </p:nvSpPr>
        <p:spPr>
          <a:xfrm>
            <a:off x="9735205" y="5595461"/>
            <a:ext cx="646390" cy="646390"/>
          </a:xfrm>
          <a:prstGeom prst="roundRect">
            <a:avLst>
              <a:gd name="adj" fmla="val 141463"/>
            </a:avLst>
          </a:prstGeom>
          <a:solidFill>
            <a:srgbClr val="FFAD94"/>
          </a:solidFill>
          <a:ln/>
        </p:spPr>
      </p:sp>
      <p:pic>
        <p:nvPicPr>
          <p:cNvPr id="20" name="Image 1" descr="preencoded.png"/>
          <p:cNvPicPr>
            <a:picLocks noChangeAspect="1"/>
          </p:cNvPicPr>
          <p:nvPr/>
        </p:nvPicPr>
        <p:blipFill>
          <a:blip r:embed="rId4"/>
          <a:stretch>
            <a:fillRect/>
          </a:stretch>
        </p:blipFill>
        <p:spPr>
          <a:xfrm>
            <a:off x="9929158" y="5789295"/>
            <a:ext cx="258485" cy="258485"/>
          </a:xfrm>
          <a:prstGeom prst="rect">
            <a:avLst/>
          </a:prstGeom>
        </p:spPr>
      </p:pic>
      <p:sp>
        <p:nvSpPr>
          <p:cNvPr id="21" name="Text 17"/>
          <p:cNvSpPr/>
          <p:nvPr/>
        </p:nvSpPr>
        <p:spPr>
          <a:xfrm>
            <a:off x="6526054" y="6457236"/>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403C4E"/>
                </a:solidFill>
                <a:latin typeface="Merriweather Bold" pitchFamily="34" charset="0"/>
                <a:ea typeface="Merriweather Bold" pitchFamily="34" charset="-122"/>
                <a:cs typeface="Merriweather Bold" pitchFamily="34" charset="-120"/>
              </a:rPr>
              <a:t>Easy Exit</a:t>
            </a:r>
            <a:endParaRPr lang="en-US" sz="2100" dirty="0"/>
          </a:p>
        </p:txBody>
      </p:sp>
      <p:sp>
        <p:nvSpPr>
          <p:cNvPr id="22" name="Text 18"/>
          <p:cNvSpPr/>
          <p:nvPr/>
        </p:nvSpPr>
        <p:spPr>
          <a:xfrm>
            <a:off x="6526054" y="6916579"/>
            <a:ext cx="7064693" cy="336113"/>
          </a:xfrm>
          <a:prstGeom prst="rect">
            <a:avLst/>
          </a:prstGeom>
          <a:noFill/>
          <a:ln/>
        </p:spPr>
        <p:txBody>
          <a:bodyPr wrap="none" lIns="0" tIns="0" rIns="0" bIns="0" rtlCol="0" anchor="t"/>
          <a:lstStyle/>
          <a:p>
            <a:pPr marL="0" indent="0" algn="l">
              <a:lnSpc>
                <a:spcPts val="2600"/>
              </a:lnSpc>
              <a:buNone/>
            </a:pPr>
            <a:r>
              <a:rPr lang="en-US" sz="1650" dirty="0">
                <a:solidFill>
                  <a:srgbClr val="403C4E"/>
                </a:solidFill>
                <a:latin typeface="Open Sans" pitchFamily="34" charset="0"/>
                <a:ea typeface="Open Sans" pitchFamily="34" charset="-122"/>
                <a:cs typeface="Open Sans" pitchFamily="34" charset="-120"/>
              </a:rPr>
              <a:t>Generators and solar inverters make switching away feel simple.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837611"/>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403C4E"/>
                </a:solidFill>
                <a:latin typeface="Merriweather Bold" pitchFamily="34" charset="0"/>
                <a:ea typeface="Merriweather Bold" pitchFamily="34" charset="-122"/>
                <a:cs typeface="Merriweather Bold" pitchFamily="34" charset="-120"/>
              </a:rPr>
              <a:t>Problem Statement</a:t>
            </a:r>
            <a:endParaRPr lang="en-US" sz="4450" dirty="0"/>
          </a:p>
        </p:txBody>
      </p:sp>
      <p:sp>
        <p:nvSpPr>
          <p:cNvPr id="3" name="Text 1"/>
          <p:cNvSpPr/>
          <p:nvPr/>
        </p:nvSpPr>
        <p:spPr>
          <a:xfrm>
            <a:off x="793790" y="3000018"/>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 Build a machine-learning system to identify AEDC customers in Abuja who are likely to churn, using data of billing, complaints, outage, tariff, and demographic data. The model should deliver early warnings that trigger targeted retention actions such as discounts, callbacks, inspections, or bill corrections.</a:t>
            </a:r>
            <a:endParaRPr lang="en-US" sz="1750" dirty="0"/>
          </a:p>
        </p:txBody>
      </p:sp>
      <p:sp>
        <p:nvSpPr>
          <p:cNvPr id="4" name="Shape 2"/>
          <p:cNvSpPr/>
          <p:nvPr/>
        </p:nvSpPr>
        <p:spPr>
          <a:xfrm>
            <a:off x="793790" y="4343876"/>
            <a:ext cx="4196358" cy="2047994"/>
          </a:xfrm>
          <a:prstGeom prst="roundRect">
            <a:avLst>
              <a:gd name="adj" fmla="val 4652"/>
            </a:avLst>
          </a:prstGeom>
          <a:solidFill>
            <a:srgbClr val="FFD8CC"/>
          </a:solidFill>
          <a:ln w="7620">
            <a:solidFill>
              <a:srgbClr val="E5BEB2"/>
            </a:solidFill>
            <a:prstDash val="solid"/>
          </a:ln>
        </p:spPr>
      </p:sp>
      <p:sp>
        <p:nvSpPr>
          <p:cNvPr id="5" name="Text 3"/>
          <p:cNvSpPr/>
          <p:nvPr/>
        </p:nvSpPr>
        <p:spPr>
          <a:xfrm>
            <a:off x="1028224" y="457831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Business Impact</a:t>
            </a:r>
            <a:endParaRPr lang="en-US" sz="2200" dirty="0"/>
          </a:p>
        </p:txBody>
      </p:sp>
      <p:sp>
        <p:nvSpPr>
          <p:cNvPr id="6" name="Text 4"/>
          <p:cNvSpPr/>
          <p:nvPr/>
        </p:nvSpPr>
        <p:spPr>
          <a:xfrm>
            <a:off x="1028224" y="5068729"/>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Reduce revenue loss, protect infrastructure ROI, and strengthen customer trust.</a:t>
            </a:r>
            <a:endParaRPr lang="en-US" sz="1750" dirty="0"/>
          </a:p>
        </p:txBody>
      </p:sp>
      <p:sp>
        <p:nvSpPr>
          <p:cNvPr id="7" name="Shape 5"/>
          <p:cNvSpPr/>
          <p:nvPr/>
        </p:nvSpPr>
        <p:spPr>
          <a:xfrm>
            <a:off x="5216962" y="4343876"/>
            <a:ext cx="4196358" cy="2047994"/>
          </a:xfrm>
          <a:prstGeom prst="roundRect">
            <a:avLst>
              <a:gd name="adj" fmla="val 4652"/>
            </a:avLst>
          </a:prstGeom>
          <a:solidFill>
            <a:srgbClr val="FFD8CC"/>
          </a:solidFill>
          <a:ln w="7620">
            <a:solidFill>
              <a:srgbClr val="E5BEB2"/>
            </a:solidFill>
            <a:prstDash val="solid"/>
          </a:ln>
        </p:spPr>
      </p:sp>
      <p:sp>
        <p:nvSpPr>
          <p:cNvPr id="8" name="Text 6"/>
          <p:cNvSpPr/>
          <p:nvPr/>
        </p:nvSpPr>
        <p:spPr>
          <a:xfrm>
            <a:off x="5451396" y="457831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Data Inputs</a:t>
            </a:r>
            <a:endParaRPr lang="en-US" sz="2200" dirty="0"/>
          </a:p>
        </p:txBody>
      </p:sp>
      <p:sp>
        <p:nvSpPr>
          <p:cNvPr id="9" name="Text 7"/>
          <p:cNvSpPr/>
          <p:nvPr/>
        </p:nvSpPr>
        <p:spPr>
          <a:xfrm>
            <a:off x="5451396" y="5068729"/>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Billing history, outage logs, complaints, tariff class, demographics, and arrears.</a:t>
            </a:r>
            <a:endParaRPr lang="en-US" sz="1750" dirty="0"/>
          </a:p>
        </p:txBody>
      </p:sp>
      <p:sp>
        <p:nvSpPr>
          <p:cNvPr id="10" name="Shape 8"/>
          <p:cNvSpPr/>
          <p:nvPr/>
        </p:nvSpPr>
        <p:spPr>
          <a:xfrm>
            <a:off x="9640133" y="4343876"/>
            <a:ext cx="4196358" cy="2047994"/>
          </a:xfrm>
          <a:prstGeom prst="roundRect">
            <a:avLst>
              <a:gd name="adj" fmla="val 4652"/>
            </a:avLst>
          </a:prstGeom>
          <a:solidFill>
            <a:srgbClr val="FFD8CC"/>
          </a:solidFill>
          <a:ln w="7620">
            <a:solidFill>
              <a:srgbClr val="E5BEB2"/>
            </a:solidFill>
            <a:prstDash val="solid"/>
          </a:ln>
        </p:spPr>
      </p:sp>
      <p:sp>
        <p:nvSpPr>
          <p:cNvPr id="11" name="Text 9"/>
          <p:cNvSpPr/>
          <p:nvPr/>
        </p:nvSpPr>
        <p:spPr>
          <a:xfrm>
            <a:off x="9874568" y="457831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Outcome</a:t>
            </a:r>
            <a:endParaRPr lang="en-US" sz="2200" dirty="0"/>
          </a:p>
        </p:txBody>
      </p:sp>
      <p:sp>
        <p:nvSpPr>
          <p:cNvPr id="12" name="Text 10"/>
          <p:cNvSpPr/>
          <p:nvPr/>
        </p:nvSpPr>
        <p:spPr>
          <a:xfrm>
            <a:off x="9874568" y="5068729"/>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A deployable early-warning model that routes high-risk customers into retention workflows.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308378"/>
            <a:ext cx="12943761" cy="708779"/>
          </a:xfrm>
          <a:prstGeom prst="rect">
            <a:avLst/>
          </a:prstGeom>
          <a:noFill/>
          <a:ln/>
        </p:spPr>
        <p:txBody>
          <a:bodyPr wrap="none" lIns="0" tIns="0" rIns="0" bIns="0" rtlCol="0" anchor="t"/>
          <a:lstStyle/>
          <a:p>
            <a:pPr marL="0" indent="0" algn="l">
              <a:lnSpc>
                <a:spcPts val="5550"/>
              </a:lnSpc>
              <a:buNone/>
            </a:pPr>
            <a:r>
              <a:rPr lang="en-US" sz="4450" b="1" dirty="0">
                <a:solidFill>
                  <a:srgbClr val="403C4E"/>
                </a:solidFill>
                <a:latin typeface="Merriweather Bold" pitchFamily="34" charset="0"/>
                <a:ea typeface="Merriweather Bold" pitchFamily="34" charset="-122"/>
                <a:cs typeface="Merriweather Bold" pitchFamily="34" charset="-120"/>
              </a:rPr>
              <a:t>Project Overview &amp; Churn Prevention Solution</a:t>
            </a:r>
            <a:endParaRPr lang="en-US" sz="4450" dirty="0"/>
          </a:p>
        </p:txBody>
      </p:sp>
      <p:sp>
        <p:nvSpPr>
          <p:cNvPr id="3" name="Text 1"/>
          <p:cNvSpPr/>
          <p:nvPr/>
        </p:nvSpPr>
        <p:spPr>
          <a:xfrm>
            <a:off x="793790" y="2470785"/>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 We transformed 2,500 customer records into a production-ready churn scoring pipeline. A Random Forest model scores active customers each billing cycle, and those above a tuned probability threshold are routed into retention workflows — shifting churn management from reactive response to targeted prevention. </a:t>
            </a:r>
            <a:endParaRPr lang="en-US" sz="1750" dirty="0"/>
          </a:p>
        </p:txBody>
      </p:sp>
      <p:sp>
        <p:nvSpPr>
          <p:cNvPr id="4" name="Shape 2"/>
          <p:cNvSpPr/>
          <p:nvPr/>
        </p:nvSpPr>
        <p:spPr>
          <a:xfrm>
            <a:off x="793790" y="4154805"/>
            <a:ext cx="4196358" cy="2766298"/>
          </a:xfrm>
          <a:prstGeom prst="roundRect">
            <a:avLst>
              <a:gd name="adj" fmla="val 5289"/>
            </a:avLst>
          </a:prstGeom>
          <a:solidFill>
            <a:srgbClr val="FFFFFF"/>
          </a:solidFill>
          <a:ln/>
        </p:spPr>
      </p:sp>
      <p:sp>
        <p:nvSpPr>
          <p:cNvPr id="5" name="Shape 3"/>
          <p:cNvSpPr/>
          <p:nvPr/>
        </p:nvSpPr>
        <p:spPr>
          <a:xfrm>
            <a:off x="793790" y="4124325"/>
            <a:ext cx="4196358" cy="121920"/>
          </a:xfrm>
          <a:prstGeom prst="roundRect">
            <a:avLst>
              <a:gd name="adj" fmla="val 78139"/>
            </a:avLst>
          </a:prstGeom>
          <a:solidFill>
            <a:srgbClr val="FFAD94"/>
          </a:solidFill>
          <a:ln/>
        </p:spPr>
      </p:sp>
      <p:sp>
        <p:nvSpPr>
          <p:cNvPr id="6" name="Shape 4"/>
          <p:cNvSpPr/>
          <p:nvPr/>
        </p:nvSpPr>
        <p:spPr>
          <a:xfrm>
            <a:off x="2551688" y="3814643"/>
            <a:ext cx="680442" cy="680442"/>
          </a:xfrm>
          <a:prstGeom prst="roundRect">
            <a:avLst>
              <a:gd name="adj" fmla="val 134383"/>
            </a:avLst>
          </a:prstGeom>
          <a:solidFill>
            <a:srgbClr val="FFAD94"/>
          </a:solidFill>
          <a:ln/>
        </p:spPr>
      </p:sp>
      <p:sp>
        <p:nvSpPr>
          <p:cNvPr id="7" name="Text 5"/>
          <p:cNvSpPr/>
          <p:nvPr/>
        </p:nvSpPr>
        <p:spPr>
          <a:xfrm>
            <a:off x="2755761" y="3984784"/>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000000"/>
                </a:solidFill>
                <a:latin typeface="Merriweather Bold" pitchFamily="34" charset="0"/>
                <a:ea typeface="Merriweather Bold" pitchFamily="34" charset="-122"/>
                <a:cs typeface="Merriweather Bold" pitchFamily="34" charset="-120"/>
              </a:rPr>
              <a:t>1</a:t>
            </a:r>
            <a:endParaRPr lang="en-US" sz="2100" dirty="0"/>
          </a:p>
        </p:txBody>
      </p:sp>
      <p:sp>
        <p:nvSpPr>
          <p:cNvPr id="8" name="Text 6"/>
          <p:cNvSpPr/>
          <p:nvPr/>
        </p:nvSpPr>
        <p:spPr>
          <a:xfrm>
            <a:off x="1051084" y="472178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Build Risk Signals</a:t>
            </a:r>
            <a:endParaRPr lang="en-US" sz="2200" dirty="0"/>
          </a:p>
        </p:txBody>
      </p:sp>
      <p:sp>
        <p:nvSpPr>
          <p:cNvPr id="9" name="Text 7"/>
          <p:cNvSpPr/>
          <p:nvPr/>
        </p:nvSpPr>
        <p:spPr>
          <a:xfrm>
            <a:off x="1051084" y="5212199"/>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Created Outage_Burden, Debt_To_Income, Cost_Per_kWh, and Sat_Complaint_Ratio.</a:t>
            </a:r>
            <a:endParaRPr lang="en-US" sz="1750" dirty="0"/>
          </a:p>
        </p:txBody>
      </p:sp>
      <p:sp>
        <p:nvSpPr>
          <p:cNvPr id="10" name="Shape 8"/>
          <p:cNvSpPr/>
          <p:nvPr/>
        </p:nvSpPr>
        <p:spPr>
          <a:xfrm>
            <a:off x="5216962" y="4154805"/>
            <a:ext cx="4196358" cy="2766298"/>
          </a:xfrm>
          <a:prstGeom prst="roundRect">
            <a:avLst>
              <a:gd name="adj" fmla="val 5289"/>
            </a:avLst>
          </a:prstGeom>
          <a:solidFill>
            <a:srgbClr val="FFFFFF"/>
          </a:solidFill>
          <a:ln/>
        </p:spPr>
      </p:sp>
      <p:sp>
        <p:nvSpPr>
          <p:cNvPr id="11" name="Shape 9"/>
          <p:cNvSpPr/>
          <p:nvPr/>
        </p:nvSpPr>
        <p:spPr>
          <a:xfrm>
            <a:off x="5216962" y="4124325"/>
            <a:ext cx="4196358" cy="121920"/>
          </a:xfrm>
          <a:prstGeom prst="roundRect">
            <a:avLst>
              <a:gd name="adj" fmla="val 78139"/>
            </a:avLst>
          </a:prstGeom>
          <a:solidFill>
            <a:srgbClr val="FFAD94"/>
          </a:solidFill>
          <a:ln/>
        </p:spPr>
      </p:sp>
      <p:sp>
        <p:nvSpPr>
          <p:cNvPr id="12" name="Shape 10"/>
          <p:cNvSpPr/>
          <p:nvPr/>
        </p:nvSpPr>
        <p:spPr>
          <a:xfrm>
            <a:off x="6974860" y="3814643"/>
            <a:ext cx="680442" cy="680442"/>
          </a:xfrm>
          <a:prstGeom prst="roundRect">
            <a:avLst>
              <a:gd name="adj" fmla="val 134383"/>
            </a:avLst>
          </a:prstGeom>
          <a:solidFill>
            <a:srgbClr val="FFAD94"/>
          </a:solidFill>
          <a:ln/>
        </p:spPr>
      </p:sp>
      <p:sp>
        <p:nvSpPr>
          <p:cNvPr id="13" name="Text 11"/>
          <p:cNvSpPr/>
          <p:nvPr/>
        </p:nvSpPr>
        <p:spPr>
          <a:xfrm>
            <a:off x="7178933" y="3984784"/>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000000"/>
                </a:solidFill>
                <a:latin typeface="Merriweather Bold" pitchFamily="34" charset="0"/>
                <a:ea typeface="Merriweather Bold" pitchFamily="34" charset="-122"/>
                <a:cs typeface="Merriweather Bold" pitchFamily="34" charset="-120"/>
              </a:rPr>
              <a:t>2</a:t>
            </a:r>
            <a:endParaRPr lang="en-US" sz="2100" dirty="0"/>
          </a:p>
        </p:txBody>
      </p:sp>
      <p:sp>
        <p:nvSpPr>
          <p:cNvPr id="14" name="Text 12"/>
          <p:cNvSpPr/>
          <p:nvPr/>
        </p:nvSpPr>
        <p:spPr>
          <a:xfrm>
            <a:off x="5474256" y="4721781"/>
            <a:ext cx="3632597" cy="354330"/>
          </a:xfrm>
          <a:prstGeom prst="rect">
            <a:avLst/>
          </a:prstGeom>
          <a:noFill/>
          <a:ln/>
        </p:spPr>
        <p:txBody>
          <a:bodyPr wrap="non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Balance and Train Models</a:t>
            </a:r>
            <a:endParaRPr lang="en-US" sz="2200" dirty="0"/>
          </a:p>
        </p:txBody>
      </p:sp>
      <p:sp>
        <p:nvSpPr>
          <p:cNvPr id="15" name="Text 13"/>
          <p:cNvSpPr/>
          <p:nvPr/>
        </p:nvSpPr>
        <p:spPr>
          <a:xfrm>
            <a:off x="5474256" y="5212199"/>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Applied a SMOTETomek pipeline to address class imbalance, then trained RF and LR models with stratified CV.</a:t>
            </a:r>
            <a:endParaRPr lang="en-US" sz="1750" dirty="0"/>
          </a:p>
        </p:txBody>
      </p:sp>
      <p:sp>
        <p:nvSpPr>
          <p:cNvPr id="16" name="Shape 14"/>
          <p:cNvSpPr/>
          <p:nvPr/>
        </p:nvSpPr>
        <p:spPr>
          <a:xfrm>
            <a:off x="9640133" y="4154805"/>
            <a:ext cx="4196358" cy="2766298"/>
          </a:xfrm>
          <a:prstGeom prst="roundRect">
            <a:avLst>
              <a:gd name="adj" fmla="val 5289"/>
            </a:avLst>
          </a:prstGeom>
          <a:solidFill>
            <a:srgbClr val="FFFFFF"/>
          </a:solidFill>
          <a:ln/>
        </p:spPr>
      </p:sp>
      <p:sp>
        <p:nvSpPr>
          <p:cNvPr id="17" name="Shape 15"/>
          <p:cNvSpPr/>
          <p:nvPr/>
        </p:nvSpPr>
        <p:spPr>
          <a:xfrm>
            <a:off x="9640133" y="4124325"/>
            <a:ext cx="4196358" cy="121920"/>
          </a:xfrm>
          <a:prstGeom prst="roundRect">
            <a:avLst>
              <a:gd name="adj" fmla="val 78139"/>
            </a:avLst>
          </a:prstGeom>
          <a:solidFill>
            <a:srgbClr val="FFAD94"/>
          </a:solidFill>
          <a:ln/>
        </p:spPr>
      </p:sp>
      <p:sp>
        <p:nvSpPr>
          <p:cNvPr id="18" name="Shape 16"/>
          <p:cNvSpPr/>
          <p:nvPr/>
        </p:nvSpPr>
        <p:spPr>
          <a:xfrm>
            <a:off x="11398032" y="3814643"/>
            <a:ext cx="680442" cy="680442"/>
          </a:xfrm>
          <a:prstGeom prst="roundRect">
            <a:avLst>
              <a:gd name="adj" fmla="val 134383"/>
            </a:avLst>
          </a:prstGeom>
          <a:solidFill>
            <a:srgbClr val="FFAD94"/>
          </a:solidFill>
          <a:ln/>
        </p:spPr>
      </p:sp>
      <p:sp>
        <p:nvSpPr>
          <p:cNvPr id="19" name="Text 17"/>
          <p:cNvSpPr/>
          <p:nvPr/>
        </p:nvSpPr>
        <p:spPr>
          <a:xfrm>
            <a:off x="11602105" y="3984784"/>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000000"/>
                </a:solidFill>
                <a:latin typeface="Merriweather Bold" pitchFamily="34" charset="0"/>
                <a:ea typeface="Merriweather Bold" pitchFamily="34" charset="-122"/>
                <a:cs typeface="Merriweather Bold" pitchFamily="34" charset="-120"/>
              </a:rPr>
              <a:t>3</a:t>
            </a:r>
            <a:endParaRPr lang="en-US" sz="2100" dirty="0"/>
          </a:p>
        </p:txBody>
      </p:sp>
      <p:sp>
        <p:nvSpPr>
          <p:cNvPr id="20" name="Text 18"/>
          <p:cNvSpPr/>
          <p:nvPr/>
        </p:nvSpPr>
        <p:spPr>
          <a:xfrm>
            <a:off x="9897427" y="4721781"/>
            <a:ext cx="3681770" cy="708660"/>
          </a:xfrm>
          <a:prstGeom prst="rect">
            <a:avLst/>
          </a:prstGeom>
          <a:noFill/>
          <a:ln/>
        </p:spPr>
        <p:txBody>
          <a:bodyPr wrap="squar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Score and Route Customers</a:t>
            </a:r>
            <a:endParaRPr lang="en-US" sz="2200" dirty="0"/>
          </a:p>
        </p:txBody>
      </p:sp>
      <p:sp>
        <p:nvSpPr>
          <p:cNvPr id="21" name="Text 19"/>
          <p:cNvSpPr/>
          <p:nvPr/>
        </p:nvSpPr>
        <p:spPr>
          <a:xfrm>
            <a:off x="9897427" y="5566529"/>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RF probability thresholds direct customers to standard or senior retention teams based on risk.</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88300"/>
            <a:ext cx="7374731" cy="637937"/>
          </a:xfrm>
          <a:prstGeom prst="rect">
            <a:avLst/>
          </a:prstGeom>
          <a:noFill/>
          <a:ln/>
        </p:spPr>
        <p:txBody>
          <a:bodyPr wrap="none" lIns="0" tIns="0" rIns="0" bIns="0" rtlCol="0" anchor="t"/>
          <a:lstStyle/>
          <a:p>
            <a:pPr marL="0" indent="0" algn="l">
              <a:lnSpc>
                <a:spcPts val="5000"/>
              </a:lnSpc>
              <a:buNone/>
            </a:pPr>
            <a:r>
              <a:rPr lang="en-US" sz="4000" b="1" dirty="0">
                <a:solidFill>
                  <a:srgbClr val="403C4E"/>
                </a:solidFill>
                <a:latin typeface="Merriweather Bold" pitchFamily="34" charset="0"/>
                <a:ea typeface="Merriweather Bold" pitchFamily="34" charset="-122"/>
                <a:cs typeface="Merriweather Bold" pitchFamily="34" charset="-120"/>
              </a:rPr>
              <a:t>Tools, Data &amp; Modeling Stack</a:t>
            </a:r>
            <a:endParaRPr lang="en-US" sz="4000" dirty="0"/>
          </a:p>
        </p:txBody>
      </p:sp>
      <p:pic>
        <p:nvPicPr>
          <p:cNvPr id="3" name="Image 0" descr="preencoded.png"/>
          <p:cNvPicPr>
            <a:picLocks noChangeAspect="1"/>
          </p:cNvPicPr>
          <p:nvPr/>
        </p:nvPicPr>
        <p:blipFill>
          <a:blip r:embed="rId3"/>
          <a:stretch>
            <a:fillRect/>
          </a:stretch>
        </p:blipFill>
        <p:spPr>
          <a:xfrm>
            <a:off x="1494234" y="1693664"/>
            <a:ext cx="11641812" cy="5020270"/>
          </a:xfrm>
          <a:prstGeom prst="rect">
            <a:avLst/>
          </a:prstGeom>
        </p:spPr>
      </p:pic>
      <p:sp>
        <p:nvSpPr>
          <p:cNvPr id="4" name="Text 1"/>
          <p:cNvSpPr/>
          <p:nvPr/>
        </p:nvSpPr>
        <p:spPr>
          <a:xfrm>
            <a:off x="2277554" y="5761903"/>
            <a:ext cx="2641163" cy="330145"/>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Merriweather Bold" pitchFamily="34" charset="0"/>
                <a:ea typeface="Merriweather Bold" pitchFamily="34" charset="-122"/>
                <a:cs typeface="Merriweather Bold" pitchFamily="34" charset="-120"/>
              </a:rPr>
              <a:t>Deployment</a:t>
            </a:r>
            <a:endParaRPr lang="en-US" sz="2050" dirty="0"/>
          </a:p>
        </p:txBody>
      </p:sp>
      <p:sp>
        <p:nvSpPr>
          <p:cNvPr id="5" name="Text 2"/>
          <p:cNvSpPr/>
          <p:nvPr/>
        </p:nvSpPr>
        <p:spPr>
          <a:xfrm>
            <a:off x="2277554" y="4599792"/>
            <a:ext cx="2641163" cy="330145"/>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Merriweather Bold" pitchFamily="34" charset="0"/>
                <a:ea typeface="Merriweather Bold" pitchFamily="34" charset="-122"/>
                <a:cs typeface="Merriweather Bold" pitchFamily="34" charset="-120"/>
              </a:rPr>
              <a:t>Models</a:t>
            </a:r>
            <a:endParaRPr lang="en-US" sz="2050" dirty="0"/>
          </a:p>
        </p:txBody>
      </p:sp>
      <p:sp>
        <p:nvSpPr>
          <p:cNvPr id="6" name="Text 3"/>
          <p:cNvSpPr/>
          <p:nvPr/>
        </p:nvSpPr>
        <p:spPr>
          <a:xfrm>
            <a:off x="2277554" y="3449419"/>
            <a:ext cx="2641163" cy="330145"/>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Merriweather Bold" pitchFamily="34" charset="0"/>
                <a:ea typeface="Merriweather Bold" pitchFamily="34" charset="-122"/>
                <a:cs typeface="Merriweather Bold" pitchFamily="34" charset="-120"/>
              </a:rPr>
              <a:t>Data Prep</a:t>
            </a:r>
            <a:endParaRPr lang="en-US" sz="2050" dirty="0"/>
          </a:p>
        </p:txBody>
      </p:sp>
      <p:sp>
        <p:nvSpPr>
          <p:cNvPr id="7" name="Text 4"/>
          <p:cNvSpPr/>
          <p:nvPr/>
        </p:nvSpPr>
        <p:spPr>
          <a:xfrm>
            <a:off x="2277554" y="2287307"/>
            <a:ext cx="2641163" cy="330145"/>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Merriweather Bold" pitchFamily="34" charset="0"/>
                <a:ea typeface="Merriweather Bold" pitchFamily="34" charset="-122"/>
                <a:cs typeface="Merriweather Bold" pitchFamily="34" charset="-120"/>
              </a:rPr>
              <a:t>Data Sources</a:t>
            </a:r>
            <a:endParaRPr lang="en-US" sz="2050" dirty="0"/>
          </a:p>
        </p:txBody>
      </p:sp>
      <p:sp>
        <p:nvSpPr>
          <p:cNvPr id="8" name="Text 5"/>
          <p:cNvSpPr/>
          <p:nvPr/>
        </p:nvSpPr>
        <p:spPr>
          <a:xfrm>
            <a:off x="793790" y="6920627"/>
            <a:ext cx="13042821" cy="620554"/>
          </a:xfrm>
          <a:prstGeom prst="rect">
            <a:avLst/>
          </a:prstGeom>
          <a:noFill/>
          <a:ln/>
        </p:spPr>
        <p:txBody>
          <a:bodyPr wrap="square" lIns="0" tIns="0" rIns="0" bIns="0" rtlCol="0" anchor="t"/>
          <a:lstStyle/>
          <a:p>
            <a:pPr marL="0" indent="0" algn="l">
              <a:lnSpc>
                <a:spcPts val="2400"/>
              </a:lnSpc>
              <a:buNone/>
            </a:pPr>
            <a:r>
              <a:rPr lang="en-US" sz="1600" dirty="0">
                <a:solidFill>
                  <a:srgbClr val="403C4E"/>
                </a:solidFill>
                <a:latin typeface="Open Sans" pitchFamily="34" charset="0"/>
                <a:ea typeface="Open Sans" pitchFamily="34" charset="-122"/>
                <a:cs typeface="Open Sans" pitchFamily="34" charset="-120"/>
              </a:rPr>
              <a:t> Key technologies: Python (Pandas, Matplotlib), scikit-learn (GridSearchCV, StratifiedKFold), SMOTETomek for class-balance, Random Forest &amp; Logistic Regression for modeling; evaluation via confusion matrices and ROC-AUC.</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74370"/>
            <a:ext cx="11871960" cy="708779"/>
          </a:xfrm>
          <a:prstGeom prst="rect">
            <a:avLst/>
          </a:prstGeom>
          <a:noFill/>
          <a:ln/>
        </p:spPr>
        <p:txBody>
          <a:bodyPr wrap="none" lIns="0" tIns="0" rIns="0" bIns="0" rtlCol="0" anchor="t"/>
          <a:lstStyle/>
          <a:p>
            <a:pPr marL="0" indent="0" algn="l">
              <a:lnSpc>
                <a:spcPts val="5550"/>
              </a:lnSpc>
              <a:buNone/>
            </a:pPr>
            <a:r>
              <a:rPr lang="en-US" sz="4450" b="1" dirty="0">
                <a:solidFill>
                  <a:srgbClr val="403C4E"/>
                </a:solidFill>
                <a:latin typeface="Merriweather Bold" pitchFamily="34" charset="0"/>
                <a:ea typeface="Merriweather Bold" pitchFamily="34" charset="-122"/>
                <a:cs typeface="Merriweather Bold" pitchFamily="34" charset="-120"/>
              </a:rPr>
              <a:t>Methodology — Minimal diagram of steps</a:t>
            </a:r>
            <a:endParaRPr lang="en-US" sz="4450" dirty="0"/>
          </a:p>
        </p:txBody>
      </p:sp>
      <p:pic>
        <p:nvPicPr>
          <p:cNvPr id="3" name="Image 0" descr="preencoded.png"/>
          <p:cNvPicPr>
            <a:picLocks noChangeAspect="1"/>
          </p:cNvPicPr>
          <p:nvPr/>
        </p:nvPicPr>
        <p:blipFill>
          <a:blip r:embed="rId3"/>
          <a:stretch>
            <a:fillRect/>
          </a:stretch>
        </p:blipFill>
        <p:spPr>
          <a:xfrm>
            <a:off x="1002625" y="1836777"/>
            <a:ext cx="12625030" cy="4737497"/>
          </a:xfrm>
          <a:prstGeom prst="rect">
            <a:avLst/>
          </a:prstGeom>
        </p:spPr>
      </p:pic>
      <p:sp>
        <p:nvSpPr>
          <p:cNvPr id="5" name="Text 1"/>
          <p:cNvSpPr/>
          <p:nvPr/>
        </p:nvSpPr>
        <p:spPr>
          <a:xfrm>
            <a:off x="11203535" y="5240790"/>
            <a:ext cx="1904234" cy="733652"/>
          </a:xfrm>
          <a:prstGeom prst="rect">
            <a:avLst/>
          </a:prstGeom>
          <a:noFill/>
          <a:ln/>
        </p:spPr>
        <p:txBody>
          <a:bodyPr wrap="square" lIns="0" tIns="0" rIns="0" bIns="0" rtlCol="0" anchor="t"/>
          <a:lstStyle/>
          <a:p>
            <a:pPr marL="0" indent="0" algn="ctr">
              <a:lnSpc>
                <a:spcPts val="2850"/>
              </a:lnSpc>
              <a:buNone/>
            </a:pPr>
            <a:r>
              <a:rPr lang="en-US" sz="2300" b="1" dirty="0">
                <a:solidFill>
                  <a:srgbClr val="403C4E"/>
                </a:solidFill>
                <a:latin typeface="Merriweather Bold" pitchFamily="34" charset="0"/>
                <a:ea typeface="Merriweather Bold" pitchFamily="34" charset="-122"/>
                <a:cs typeface="Merriweather Bold" pitchFamily="34" charset="-120"/>
              </a:rPr>
              <a:t>Train Models</a:t>
            </a:r>
            <a:endParaRPr lang="en-US" sz="2300" dirty="0"/>
          </a:p>
        </p:txBody>
      </p:sp>
      <p:sp>
        <p:nvSpPr>
          <p:cNvPr id="7" name="Text 2"/>
          <p:cNvSpPr/>
          <p:nvPr/>
        </p:nvSpPr>
        <p:spPr>
          <a:xfrm>
            <a:off x="8803678" y="5424203"/>
            <a:ext cx="1904234" cy="366826"/>
          </a:xfrm>
          <a:prstGeom prst="rect">
            <a:avLst/>
          </a:prstGeom>
          <a:noFill/>
          <a:ln/>
        </p:spPr>
        <p:txBody>
          <a:bodyPr wrap="none" lIns="0" tIns="0" rIns="0" bIns="0" rtlCol="0" anchor="t"/>
          <a:lstStyle/>
          <a:p>
            <a:pPr marL="0" indent="0" algn="ctr">
              <a:lnSpc>
                <a:spcPts val="2850"/>
              </a:lnSpc>
              <a:buNone/>
            </a:pPr>
            <a:r>
              <a:rPr lang="en-US" sz="2300" b="1" dirty="0">
                <a:solidFill>
                  <a:srgbClr val="403C4E"/>
                </a:solidFill>
                <a:latin typeface="Merriweather Bold" pitchFamily="34" charset="0"/>
                <a:ea typeface="Merriweather Bold" pitchFamily="34" charset="-122"/>
                <a:cs typeface="Merriweather Bold" pitchFamily="34" charset="-120"/>
              </a:rPr>
              <a:t>Feature Eng</a:t>
            </a:r>
            <a:endParaRPr lang="en-US" sz="2300" dirty="0"/>
          </a:p>
        </p:txBody>
      </p:sp>
      <p:sp>
        <p:nvSpPr>
          <p:cNvPr id="9" name="Text 3"/>
          <p:cNvSpPr/>
          <p:nvPr/>
        </p:nvSpPr>
        <p:spPr>
          <a:xfrm>
            <a:off x="6416864" y="5424203"/>
            <a:ext cx="1904234" cy="366826"/>
          </a:xfrm>
          <a:prstGeom prst="rect">
            <a:avLst/>
          </a:prstGeom>
          <a:noFill/>
          <a:ln/>
        </p:spPr>
        <p:txBody>
          <a:bodyPr wrap="none" lIns="0" tIns="0" rIns="0" bIns="0" rtlCol="0" anchor="t"/>
          <a:lstStyle/>
          <a:p>
            <a:pPr marL="0" indent="0" algn="ctr">
              <a:lnSpc>
                <a:spcPts val="2850"/>
              </a:lnSpc>
              <a:buNone/>
            </a:pPr>
            <a:r>
              <a:rPr lang="en-US" sz="2300" b="1" dirty="0">
                <a:solidFill>
                  <a:srgbClr val="403C4E"/>
                </a:solidFill>
                <a:latin typeface="Merriweather Bold" pitchFamily="34" charset="0"/>
                <a:ea typeface="Merriweather Bold" pitchFamily="34" charset="-122"/>
                <a:cs typeface="Merriweather Bold" pitchFamily="34" charset="-120"/>
              </a:rPr>
              <a:t>EDA</a:t>
            </a:r>
            <a:endParaRPr lang="en-US" sz="2300" dirty="0"/>
          </a:p>
        </p:txBody>
      </p:sp>
      <p:sp>
        <p:nvSpPr>
          <p:cNvPr id="11" name="Text 4"/>
          <p:cNvSpPr/>
          <p:nvPr/>
        </p:nvSpPr>
        <p:spPr>
          <a:xfrm>
            <a:off x="4030050" y="5240790"/>
            <a:ext cx="1904234" cy="733652"/>
          </a:xfrm>
          <a:prstGeom prst="rect">
            <a:avLst/>
          </a:prstGeom>
          <a:noFill/>
          <a:ln/>
        </p:spPr>
        <p:txBody>
          <a:bodyPr wrap="square" lIns="0" tIns="0" rIns="0" bIns="0" rtlCol="0" anchor="t"/>
          <a:lstStyle/>
          <a:p>
            <a:pPr marL="0" indent="0" algn="ctr">
              <a:lnSpc>
                <a:spcPts val="2850"/>
              </a:lnSpc>
              <a:buNone/>
            </a:pPr>
            <a:r>
              <a:rPr lang="en-US" sz="2300" b="1" dirty="0">
                <a:solidFill>
                  <a:srgbClr val="403C4E"/>
                </a:solidFill>
                <a:latin typeface="Merriweather Bold" pitchFamily="34" charset="0"/>
                <a:ea typeface="Merriweather Bold" pitchFamily="34" charset="-122"/>
                <a:cs typeface="Merriweather Bold" pitchFamily="34" charset="-120"/>
              </a:rPr>
              <a:t>Clean &amp; Impute</a:t>
            </a:r>
            <a:endParaRPr lang="en-US" sz="2300" dirty="0"/>
          </a:p>
        </p:txBody>
      </p:sp>
      <p:sp>
        <p:nvSpPr>
          <p:cNvPr id="13" name="Text 5"/>
          <p:cNvSpPr/>
          <p:nvPr/>
        </p:nvSpPr>
        <p:spPr>
          <a:xfrm>
            <a:off x="1591065" y="5424203"/>
            <a:ext cx="1904234" cy="366826"/>
          </a:xfrm>
          <a:prstGeom prst="rect">
            <a:avLst/>
          </a:prstGeom>
          <a:noFill/>
          <a:ln/>
        </p:spPr>
        <p:txBody>
          <a:bodyPr wrap="none" lIns="0" tIns="0" rIns="0" bIns="0" rtlCol="0" anchor="t"/>
          <a:lstStyle/>
          <a:p>
            <a:pPr marL="0" indent="0" algn="ctr">
              <a:lnSpc>
                <a:spcPts val="2850"/>
              </a:lnSpc>
              <a:buNone/>
            </a:pPr>
            <a:r>
              <a:rPr lang="en-US" sz="2300" b="1" dirty="0">
                <a:solidFill>
                  <a:srgbClr val="403C4E"/>
                </a:solidFill>
                <a:latin typeface="Merriweather Bold" pitchFamily="34" charset="0"/>
                <a:ea typeface="Merriweather Bold" pitchFamily="34" charset="-122"/>
                <a:cs typeface="Merriweather Bold" pitchFamily="34" charset="-120"/>
              </a:rPr>
              <a:t>Data Load</a:t>
            </a:r>
            <a:endParaRPr lang="en-US" sz="2300" dirty="0"/>
          </a:p>
        </p:txBody>
      </p:sp>
      <p:sp>
        <p:nvSpPr>
          <p:cNvPr id="14" name="Text 6"/>
          <p:cNvSpPr/>
          <p:nvPr/>
        </p:nvSpPr>
        <p:spPr>
          <a:xfrm>
            <a:off x="793790" y="682942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 Highlights: median/mode imputation, outage_burden = frequency × duration, debt_to_income normalization, SMOTETomek applied only to training folds, threshold tuning to meet operational goals.</a:t>
            </a:r>
            <a:endParaRPr lang="en-US" sz="1750" dirty="0"/>
          </a:p>
        </p:txBody>
      </p:sp>
      <p:sp>
        <p:nvSpPr>
          <p:cNvPr id="18" name="AutoShape 2" descr="Image search resul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4" descr="Image search resul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Down Arrow 19"/>
          <p:cNvSpPr/>
          <p:nvPr/>
        </p:nvSpPr>
        <p:spPr>
          <a:xfrm>
            <a:off x="2395750" y="3223967"/>
            <a:ext cx="45719" cy="527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86539"/>
            <a:ext cx="12133659" cy="531614"/>
          </a:xfrm>
          <a:prstGeom prst="rect">
            <a:avLst/>
          </a:prstGeom>
          <a:noFill/>
          <a:ln/>
        </p:spPr>
        <p:txBody>
          <a:bodyPr wrap="none" lIns="0" tIns="0" rIns="0" bIns="0" rtlCol="0" anchor="t"/>
          <a:lstStyle/>
          <a:p>
            <a:pPr marL="0" indent="0" algn="l">
              <a:lnSpc>
                <a:spcPts val="4150"/>
              </a:lnSpc>
              <a:buNone/>
            </a:pPr>
            <a:r>
              <a:rPr lang="en-US" sz="3300" b="1" dirty="0">
                <a:solidFill>
                  <a:srgbClr val="403C4E"/>
                </a:solidFill>
                <a:latin typeface="Merriweather Bold" pitchFamily="34" charset="0"/>
                <a:ea typeface="Merriweather Bold" pitchFamily="34" charset="-122"/>
                <a:cs typeface="Merriweather Bold" pitchFamily="34" charset="-120"/>
              </a:rPr>
              <a:t>Key Results — Turning Imbalance Into Actionable Signals</a:t>
            </a:r>
            <a:endParaRPr lang="en-US" sz="3300" dirty="0"/>
          </a:p>
        </p:txBody>
      </p:sp>
      <p:pic>
        <p:nvPicPr>
          <p:cNvPr id="3" name="Image 0" descr="preencoded.png"/>
          <p:cNvPicPr>
            <a:picLocks noChangeAspect="1"/>
          </p:cNvPicPr>
          <p:nvPr/>
        </p:nvPicPr>
        <p:blipFill>
          <a:blip r:embed="rId3"/>
          <a:stretch>
            <a:fillRect/>
          </a:stretch>
        </p:blipFill>
        <p:spPr>
          <a:xfrm>
            <a:off x="2424113" y="1673304"/>
            <a:ext cx="9782056" cy="4048601"/>
          </a:xfrm>
          <a:prstGeom prst="rect">
            <a:avLst/>
          </a:prstGeom>
        </p:spPr>
      </p:pic>
      <p:sp>
        <p:nvSpPr>
          <p:cNvPr id="4" name="Text 1"/>
          <p:cNvSpPr/>
          <p:nvPr/>
        </p:nvSpPr>
        <p:spPr>
          <a:xfrm>
            <a:off x="2655491" y="2796833"/>
            <a:ext cx="1580757" cy="542180"/>
          </a:xfrm>
          <a:prstGeom prst="rect">
            <a:avLst/>
          </a:prstGeom>
          <a:noFill/>
          <a:ln/>
        </p:spPr>
        <p:txBody>
          <a:bodyPr wrap="square" lIns="0" tIns="0" rIns="0" bIns="0" rtlCol="0" anchor="t"/>
          <a:lstStyle/>
          <a:p>
            <a:pPr marL="0" indent="0" algn="l">
              <a:lnSpc>
                <a:spcPts val="2100"/>
              </a:lnSpc>
              <a:buNone/>
            </a:pPr>
            <a:r>
              <a:rPr lang="en-US" sz="1700" b="1" dirty="0">
                <a:solidFill>
                  <a:srgbClr val="403C4E"/>
                </a:solidFill>
                <a:latin typeface="Merriweather Bold" pitchFamily="34" charset="0"/>
                <a:ea typeface="Merriweather Bold" pitchFamily="34" charset="-122"/>
                <a:cs typeface="Merriweather Bold" pitchFamily="34" charset="-120"/>
              </a:rPr>
              <a:t>Identify the Imbalance</a:t>
            </a:r>
            <a:endParaRPr lang="en-US" sz="1700" dirty="0"/>
          </a:p>
        </p:txBody>
      </p:sp>
      <p:sp>
        <p:nvSpPr>
          <p:cNvPr id="5" name="Text 2"/>
          <p:cNvSpPr/>
          <p:nvPr/>
        </p:nvSpPr>
        <p:spPr>
          <a:xfrm>
            <a:off x="2655491" y="3416123"/>
            <a:ext cx="1580757" cy="379526"/>
          </a:xfrm>
          <a:prstGeom prst="rect">
            <a:avLst/>
          </a:prstGeom>
          <a:noFill/>
          <a:ln/>
        </p:spPr>
        <p:txBody>
          <a:bodyPr wrap="square" lIns="0" tIns="0" rIns="0" bIns="0" rtlCol="0" anchor="t"/>
          <a:lstStyle/>
          <a:p>
            <a:pPr marL="0" indent="0" algn="l">
              <a:lnSpc>
                <a:spcPts val="1450"/>
              </a:lnSpc>
              <a:buNone/>
            </a:pPr>
            <a:r>
              <a:rPr lang="en-US" sz="1350" dirty="0">
                <a:solidFill>
                  <a:srgbClr val="403C4E"/>
                </a:solidFill>
                <a:latin typeface="Open Sans" pitchFamily="34" charset="0"/>
                <a:ea typeface="Open Sans" pitchFamily="34" charset="-122"/>
                <a:cs typeface="Open Sans" pitchFamily="34" charset="-120"/>
              </a:rPr>
              <a:t>77.4% retained, 22.6% churned</a:t>
            </a:r>
            <a:endParaRPr lang="en-US" sz="1350" dirty="0"/>
          </a:p>
        </p:txBody>
      </p:sp>
      <p:sp>
        <p:nvSpPr>
          <p:cNvPr id="6" name="Text 3"/>
          <p:cNvSpPr/>
          <p:nvPr/>
        </p:nvSpPr>
        <p:spPr>
          <a:xfrm>
            <a:off x="10385780" y="2796833"/>
            <a:ext cx="1580757" cy="542180"/>
          </a:xfrm>
          <a:prstGeom prst="rect">
            <a:avLst/>
          </a:prstGeom>
          <a:noFill/>
          <a:ln/>
        </p:spPr>
        <p:txBody>
          <a:bodyPr wrap="square" lIns="0" tIns="0" rIns="0" bIns="0" rtlCol="0" anchor="t"/>
          <a:lstStyle/>
          <a:p>
            <a:pPr marL="0" indent="0" algn="l">
              <a:lnSpc>
                <a:spcPts val="2100"/>
              </a:lnSpc>
              <a:buNone/>
            </a:pPr>
            <a:r>
              <a:rPr lang="en-US" sz="1700" b="1" dirty="0">
                <a:solidFill>
                  <a:srgbClr val="403C4E"/>
                </a:solidFill>
                <a:latin typeface="Merriweather Bold" pitchFamily="34" charset="0"/>
                <a:ea typeface="Merriweather Bold" pitchFamily="34" charset="-122"/>
                <a:cs typeface="Merriweather Bold" pitchFamily="34" charset="-120"/>
              </a:rPr>
              <a:t>Rebalance Training Data</a:t>
            </a:r>
            <a:endParaRPr lang="en-US" sz="1700" dirty="0"/>
          </a:p>
        </p:txBody>
      </p:sp>
      <p:sp>
        <p:nvSpPr>
          <p:cNvPr id="7" name="Text 4"/>
          <p:cNvSpPr/>
          <p:nvPr/>
        </p:nvSpPr>
        <p:spPr>
          <a:xfrm>
            <a:off x="10385780" y="3416123"/>
            <a:ext cx="1580757" cy="569290"/>
          </a:xfrm>
          <a:prstGeom prst="rect">
            <a:avLst/>
          </a:prstGeom>
          <a:noFill/>
          <a:ln/>
        </p:spPr>
        <p:txBody>
          <a:bodyPr wrap="square" lIns="0" tIns="0" rIns="0" bIns="0" rtlCol="0" anchor="t"/>
          <a:lstStyle/>
          <a:p>
            <a:pPr marL="0" indent="0" algn="l">
              <a:lnSpc>
                <a:spcPts val="1450"/>
              </a:lnSpc>
              <a:buNone/>
            </a:pPr>
            <a:r>
              <a:rPr lang="en-US" sz="1350" dirty="0">
                <a:solidFill>
                  <a:srgbClr val="403C4E"/>
                </a:solidFill>
                <a:latin typeface="Open Sans" pitchFamily="34" charset="0"/>
                <a:ea typeface="Open Sans" pitchFamily="34" charset="-122"/>
                <a:cs typeface="Open Sans" pitchFamily="34" charset="-120"/>
              </a:rPr>
              <a:t>Apply SMOTETomek to create parity</a:t>
            </a:r>
            <a:endParaRPr lang="en-US" sz="1350" dirty="0"/>
          </a:p>
        </p:txBody>
      </p:sp>
      <p:sp>
        <p:nvSpPr>
          <p:cNvPr id="8" name="Text 5"/>
          <p:cNvSpPr/>
          <p:nvPr/>
        </p:nvSpPr>
        <p:spPr>
          <a:xfrm>
            <a:off x="793790" y="5865376"/>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403C4E"/>
                </a:solidFill>
                <a:latin typeface="Open Sans" pitchFamily="34" charset="0"/>
                <a:ea typeface="Open Sans" pitchFamily="34" charset="-122"/>
                <a:cs typeface="Open Sans" pitchFamily="34" charset="-120"/>
              </a:rPr>
              <a:t>Baseline imbalance was substantial: 77.4% no-churn versus 22.6% churn. We corrected this in the training set with SMOTETomek to improve model learning.</a:t>
            </a:r>
            <a:endParaRPr lang="en-US" sz="1300" dirty="0"/>
          </a:p>
        </p:txBody>
      </p:sp>
      <p:sp>
        <p:nvSpPr>
          <p:cNvPr id="9" name="Text 6"/>
          <p:cNvSpPr/>
          <p:nvPr/>
        </p:nvSpPr>
        <p:spPr>
          <a:xfrm>
            <a:off x="793790" y="6246971"/>
            <a:ext cx="13042821" cy="476250"/>
          </a:xfrm>
          <a:prstGeom prst="rect">
            <a:avLst/>
          </a:prstGeom>
          <a:noFill/>
          <a:ln/>
        </p:spPr>
        <p:txBody>
          <a:bodyPr wrap="square" lIns="0" tIns="0" rIns="0" bIns="0" rtlCol="0" anchor="t"/>
          <a:lstStyle/>
          <a:p>
            <a:pPr marL="0" indent="0" algn="l">
              <a:lnSpc>
                <a:spcPts val="1850"/>
              </a:lnSpc>
              <a:buNone/>
            </a:pPr>
            <a:r>
              <a:rPr lang="en-US" sz="1300" dirty="0">
                <a:solidFill>
                  <a:srgbClr val="403C4E"/>
                </a:solidFill>
                <a:latin typeface="Open Sans" pitchFamily="34" charset="0"/>
                <a:ea typeface="Open Sans" pitchFamily="34" charset="-122"/>
                <a:cs typeface="Open Sans" pitchFamily="34" charset="-120"/>
              </a:rPr>
              <a:t>Feature analysis highlighted </a:t>
            </a:r>
            <a:r>
              <a:rPr lang="en-US" sz="1300" b="1" dirty="0">
                <a:solidFill>
                  <a:srgbClr val="403C4E"/>
                </a:solidFill>
                <a:latin typeface="Open Sans" pitchFamily="34" charset="0"/>
                <a:ea typeface="Open Sans" pitchFamily="34" charset="-122"/>
                <a:cs typeface="Open Sans" pitchFamily="34" charset="-120"/>
              </a:rPr>
              <a:t>Debt_To_Income</a:t>
            </a:r>
            <a:r>
              <a:rPr lang="en-US" sz="1300" dirty="0">
                <a:solidFill>
                  <a:srgbClr val="403C4E"/>
                </a:solidFill>
                <a:latin typeface="Open Sans" pitchFamily="34" charset="0"/>
                <a:ea typeface="Open Sans" pitchFamily="34" charset="-122"/>
                <a:cs typeface="Open Sans" pitchFamily="34" charset="-120"/>
              </a:rPr>
              <a:t> and </a:t>
            </a:r>
            <a:r>
              <a:rPr lang="en-US" sz="1300" b="1" dirty="0">
                <a:solidFill>
                  <a:srgbClr val="403C4E"/>
                </a:solidFill>
                <a:latin typeface="Open Sans" pitchFamily="34" charset="0"/>
                <a:ea typeface="Open Sans" pitchFamily="34" charset="-122"/>
                <a:cs typeface="Open Sans" pitchFamily="34" charset="-120"/>
              </a:rPr>
              <a:t>Outage_Burden</a:t>
            </a:r>
            <a:r>
              <a:rPr lang="en-US" sz="1300" dirty="0">
                <a:solidFill>
                  <a:srgbClr val="403C4E"/>
                </a:solidFill>
                <a:latin typeface="Open Sans" pitchFamily="34" charset="0"/>
                <a:ea typeface="Open Sans" pitchFamily="34" charset="-122"/>
                <a:cs typeface="Open Sans" pitchFamily="34" charset="-120"/>
              </a:rPr>
              <a:t> as the strongest predictors. </a:t>
            </a:r>
            <a:r>
              <a:rPr lang="en-US" sz="1300" b="1" dirty="0">
                <a:solidFill>
                  <a:srgbClr val="403C4E"/>
                </a:solidFill>
                <a:latin typeface="Open Sans" pitchFamily="34" charset="0"/>
                <a:ea typeface="Open Sans" pitchFamily="34" charset="-122"/>
                <a:cs typeface="Open Sans" pitchFamily="34" charset="-120"/>
              </a:rPr>
              <a:t>Amount_Paid</a:t>
            </a:r>
            <a:r>
              <a:rPr lang="en-US" sz="1300" dirty="0">
                <a:solidFill>
                  <a:srgbClr val="403C4E"/>
                </a:solidFill>
                <a:latin typeface="Open Sans" pitchFamily="34" charset="0"/>
                <a:ea typeface="Open Sans" pitchFamily="34" charset="-122"/>
                <a:cs typeface="Open Sans" pitchFamily="34" charset="-120"/>
              </a:rPr>
              <a:t> was retained, while </a:t>
            </a:r>
            <a:r>
              <a:rPr lang="en-US" sz="1300" b="1" dirty="0">
                <a:solidFill>
                  <a:srgbClr val="403C4E"/>
                </a:solidFill>
                <a:latin typeface="Open Sans" pitchFamily="34" charset="0"/>
                <a:ea typeface="Open Sans" pitchFamily="34" charset="-122"/>
                <a:cs typeface="Open Sans" pitchFamily="34" charset="-120"/>
              </a:rPr>
              <a:t>VAT</a:t>
            </a:r>
            <a:r>
              <a:rPr lang="en-US" sz="1300" dirty="0">
                <a:solidFill>
                  <a:srgbClr val="403C4E"/>
                </a:solidFill>
                <a:latin typeface="Open Sans" pitchFamily="34" charset="0"/>
                <a:ea typeface="Open Sans" pitchFamily="34" charset="-122"/>
                <a:cs typeface="Open Sans" pitchFamily="34" charset="-120"/>
              </a:rPr>
              <a:t> and </a:t>
            </a:r>
            <a:r>
              <a:rPr lang="en-US" sz="1300" b="1" dirty="0">
                <a:solidFill>
                  <a:srgbClr val="403C4E"/>
                </a:solidFill>
                <a:latin typeface="Open Sans" pitchFamily="34" charset="0"/>
                <a:ea typeface="Open Sans" pitchFamily="34" charset="-122"/>
                <a:cs typeface="Open Sans" pitchFamily="34" charset="-120"/>
              </a:rPr>
              <a:t>Service_Charge</a:t>
            </a:r>
            <a:r>
              <a:rPr lang="en-US" sz="1300" dirty="0">
                <a:solidFill>
                  <a:srgbClr val="403C4E"/>
                </a:solidFill>
                <a:latin typeface="Open Sans" pitchFamily="34" charset="0"/>
                <a:ea typeface="Open Sans" pitchFamily="34" charset="-122"/>
                <a:cs typeface="Open Sans" pitchFamily="34" charset="-120"/>
              </a:rPr>
              <a:t> were removed to reduce multicollinearity.</a:t>
            </a:r>
            <a:endParaRPr lang="en-US" sz="1300" dirty="0"/>
          </a:p>
        </p:txBody>
      </p:sp>
      <p:sp>
        <p:nvSpPr>
          <p:cNvPr id="10" name="Text 7"/>
          <p:cNvSpPr/>
          <p:nvPr/>
        </p:nvSpPr>
        <p:spPr>
          <a:xfrm>
            <a:off x="793790" y="6866692"/>
            <a:ext cx="13042821" cy="476250"/>
          </a:xfrm>
          <a:prstGeom prst="rect">
            <a:avLst/>
          </a:prstGeom>
          <a:noFill/>
          <a:ln/>
        </p:spPr>
        <p:txBody>
          <a:bodyPr wrap="square" lIns="0" tIns="0" rIns="0" bIns="0" rtlCol="0" anchor="t"/>
          <a:lstStyle/>
          <a:p>
            <a:pPr marL="0" indent="0" algn="l">
              <a:lnSpc>
                <a:spcPts val="1850"/>
              </a:lnSpc>
              <a:buNone/>
            </a:pPr>
            <a:r>
              <a:rPr lang="en-US" sz="1300" dirty="0">
                <a:solidFill>
                  <a:srgbClr val="403C4E"/>
                </a:solidFill>
                <a:latin typeface="Open Sans" pitchFamily="34" charset="0"/>
                <a:ea typeface="Open Sans" pitchFamily="34" charset="-122"/>
                <a:cs typeface="Open Sans" pitchFamily="34" charset="-120"/>
              </a:rPr>
              <a:t>In the confusion matrices, logistic regression prioritized recall, catching more churners but producing more false alarms. Random forest delivered higher precision with fewer false positives, making the choice dependent on retention capacity.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48295"/>
            <a:ext cx="13042821" cy="1204913"/>
          </a:xfrm>
          <a:prstGeom prst="rect">
            <a:avLst/>
          </a:prstGeom>
          <a:noFill/>
          <a:ln/>
        </p:spPr>
        <p:txBody>
          <a:bodyPr wrap="square" lIns="0" tIns="0" rIns="0" bIns="0" rtlCol="0" anchor="t"/>
          <a:lstStyle/>
          <a:p>
            <a:pPr marL="0" indent="0" algn="l">
              <a:lnSpc>
                <a:spcPts val="4700"/>
              </a:lnSpc>
              <a:buNone/>
            </a:pPr>
            <a:r>
              <a:rPr lang="en-US" sz="3750" b="1" dirty="0">
                <a:solidFill>
                  <a:srgbClr val="403C4E"/>
                </a:solidFill>
                <a:latin typeface="Merriweather Bold" pitchFamily="34" charset="0"/>
                <a:ea typeface="Merriweather Bold" pitchFamily="34" charset="-122"/>
                <a:cs typeface="Merriweather Bold" pitchFamily="34" charset="-120"/>
              </a:rPr>
              <a:t>Final Recommendations — Clear, actionable, and professional</a:t>
            </a:r>
            <a:endParaRPr lang="en-US" sz="3750" dirty="0"/>
          </a:p>
        </p:txBody>
      </p:sp>
      <p:sp>
        <p:nvSpPr>
          <p:cNvPr id="3" name="Shape 1"/>
          <p:cNvSpPr/>
          <p:nvPr/>
        </p:nvSpPr>
        <p:spPr>
          <a:xfrm>
            <a:off x="793790" y="2180868"/>
            <a:ext cx="6439495" cy="1950720"/>
          </a:xfrm>
          <a:prstGeom prst="roundRect">
            <a:avLst>
              <a:gd name="adj" fmla="val 4151"/>
            </a:avLst>
          </a:prstGeom>
          <a:solidFill>
            <a:srgbClr val="FFFFFF"/>
          </a:solidFill>
          <a:ln w="22860">
            <a:solidFill>
              <a:srgbClr val="E5BEB2"/>
            </a:solidFill>
            <a:prstDash val="solid"/>
          </a:ln>
        </p:spPr>
      </p:sp>
      <p:sp>
        <p:nvSpPr>
          <p:cNvPr id="4" name="Shape 2"/>
          <p:cNvSpPr/>
          <p:nvPr/>
        </p:nvSpPr>
        <p:spPr>
          <a:xfrm>
            <a:off x="816650" y="2203728"/>
            <a:ext cx="6393775" cy="578406"/>
          </a:xfrm>
          <a:prstGeom prst="roundRect">
            <a:avLst>
              <a:gd name="adj" fmla="val 9257"/>
            </a:avLst>
          </a:prstGeom>
          <a:solidFill>
            <a:srgbClr val="FFD8CC"/>
          </a:solidFill>
          <a:ln/>
        </p:spPr>
      </p:sp>
      <p:sp>
        <p:nvSpPr>
          <p:cNvPr id="5" name="Text 3"/>
          <p:cNvSpPr/>
          <p:nvPr/>
        </p:nvSpPr>
        <p:spPr>
          <a:xfrm>
            <a:off x="3868936" y="2308384"/>
            <a:ext cx="289203" cy="361474"/>
          </a:xfrm>
          <a:prstGeom prst="rect">
            <a:avLst/>
          </a:prstGeom>
          <a:noFill/>
          <a:ln/>
        </p:spPr>
        <p:txBody>
          <a:bodyPr wrap="none" lIns="0" tIns="0" rIns="0" bIns="0" rtlCol="0" anchor="t"/>
          <a:lstStyle/>
          <a:p>
            <a:pPr marL="0" indent="0" algn="l">
              <a:lnSpc>
                <a:spcPts val="2250"/>
              </a:lnSpc>
              <a:buNone/>
            </a:pPr>
            <a:r>
              <a:rPr lang="en-US" sz="2250" b="1" dirty="0">
                <a:solidFill>
                  <a:srgbClr val="403C4E"/>
                </a:solidFill>
                <a:latin typeface="Merriweather Bold" pitchFamily="34" charset="0"/>
                <a:ea typeface="Merriweather Bold" pitchFamily="34" charset="-122"/>
                <a:cs typeface="Merriweather Bold" pitchFamily="34" charset="-120"/>
              </a:rPr>
              <a:t>1</a:t>
            </a:r>
            <a:endParaRPr lang="en-US" sz="2250" dirty="0"/>
          </a:p>
        </p:txBody>
      </p:sp>
      <p:sp>
        <p:nvSpPr>
          <p:cNvPr id="6" name="Text 4"/>
          <p:cNvSpPr/>
          <p:nvPr/>
        </p:nvSpPr>
        <p:spPr>
          <a:xfrm>
            <a:off x="1009412" y="2945963"/>
            <a:ext cx="4148376" cy="301228"/>
          </a:xfrm>
          <a:prstGeom prst="rect">
            <a:avLst/>
          </a:prstGeom>
          <a:noFill/>
          <a:ln/>
        </p:spPr>
        <p:txBody>
          <a:bodyPr wrap="none" lIns="0" tIns="0" rIns="0" bIns="0" rtlCol="0" anchor="t"/>
          <a:lstStyle/>
          <a:p>
            <a:pPr marL="0" indent="0" algn="l">
              <a:lnSpc>
                <a:spcPts val="2350"/>
              </a:lnSpc>
              <a:buNone/>
            </a:pPr>
            <a:r>
              <a:rPr lang="en-US" sz="1850" b="1" dirty="0">
                <a:solidFill>
                  <a:srgbClr val="403C4E"/>
                </a:solidFill>
                <a:latin typeface="Merriweather Bold" pitchFamily="34" charset="0"/>
                <a:ea typeface="Merriweather Bold" pitchFamily="34" charset="-122"/>
                <a:cs typeface="Merriweather Bold" pitchFamily="34" charset="-120"/>
              </a:rPr>
              <a:t>1. Deploy Random Forest (primary)</a:t>
            </a:r>
            <a:endParaRPr lang="en-US" sz="1850" dirty="0"/>
          </a:p>
        </p:txBody>
      </p:sp>
      <p:sp>
        <p:nvSpPr>
          <p:cNvPr id="7" name="Text 5"/>
          <p:cNvSpPr/>
          <p:nvPr/>
        </p:nvSpPr>
        <p:spPr>
          <a:xfrm>
            <a:off x="1009412" y="3345418"/>
            <a:ext cx="6008251" cy="570548"/>
          </a:xfrm>
          <a:prstGeom prst="rect">
            <a:avLst/>
          </a:prstGeom>
          <a:noFill/>
          <a:ln/>
        </p:spPr>
        <p:txBody>
          <a:bodyPr wrap="square" lIns="0" tIns="0" rIns="0" bIns="0" rtlCol="0" anchor="t"/>
          <a:lstStyle/>
          <a:p>
            <a:pPr marL="0" indent="0" algn="l">
              <a:lnSpc>
                <a:spcPts val="2200"/>
              </a:lnSpc>
              <a:buNone/>
            </a:pPr>
            <a:r>
              <a:rPr lang="en-US" sz="1500" dirty="0">
                <a:solidFill>
                  <a:srgbClr val="403C4E"/>
                </a:solidFill>
                <a:latin typeface="Open Sans" pitchFamily="34" charset="0"/>
                <a:ea typeface="Open Sans" pitchFamily="34" charset="-122"/>
                <a:cs typeface="Open Sans" pitchFamily="34" charset="-120"/>
              </a:rPr>
              <a:t>Score customers each billing cycle. Default action thresholds: 0.35 (outreach), 0.55 (retention queue), 0.80 (senior escalation).</a:t>
            </a:r>
            <a:endParaRPr lang="en-US" sz="1500" dirty="0"/>
          </a:p>
        </p:txBody>
      </p:sp>
      <p:sp>
        <p:nvSpPr>
          <p:cNvPr id="8" name="Shape 6"/>
          <p:cNvSpPr/>
          <p:nvPr/>
        </p:nvSpPr>
        <p:spPr>
          <a:xfrm>
            <a:off x="7397115" y="2180868"/>
            <a:ext cx="6439495" cy="1950720"/>
          </a:xfrm>
          <a:prstGeom prst="roundRect">
            <a:avLst>
              <a:gd name="adj" fmla="val 4151"/>
            </a:avLst>
          </a:prstGeom>
          <a:solidFill>
            <a:srgbClr val="FFFFFF"/>
          </a:solidFill>
          <a:ln w="22860">
            <a:solidFill>
              <a:srgbClr val="E5BEB2"/>
            </a:solidFill>
            <a:prstDash val="solid"/>
          </a:ln>
        </p:spPr>
      </p:sp>
      <p:sp>
        <p:nvSpPr>
          <p:cNvPr id="9" name="Shape 7"/>
          <p:cNvSpPr/>
          <p:nvPr/>
        </p:nvSpPr>
        <p:spPr>
          <a:xfrm>
            <a:off x="7419975" y="2203728"/>
            <a:ext cx="6393775" cy="578406"/>
          </a:xfrm>
          <a:prstGeom prst="roundRect">
            <a:avLst>
              <a:gd name="adj" fmla="val 9257"/>
            </a:avLst>
          </a:prstGeom>
          <a:solidFill>
            <a:srgbClr val="FFD8CC"/>
          </a:solidFill>
          <a:ln/>
        </p:spPr>
      </p:sp>
      <p:sp>
        <p:nvSpPr>
          <p:cNvPr id="10" name="Text 8"/>
          <p:cNvSpPr/>
          <p:nvPr/>
        </p:nvSpPr>
        <p:spPr>
          <a:xfrm>
            <a:off x="10472261" y="2308384"/>
            <a:ext cx="289203" cy="361474"/>
          </a:xfrm>
          <a:prstGeom prst="rect">
            <a:avLst/>
          </a:prstGeom>
          <a:noFill/>
          <a:ln/>
        </p:spPr>
        <p:txBody>
          <a:bodyPr wrap="none" lIns="0" tIns="0" rIns="0" bIns="0" rtlCol="0" anchor="t"/>
          <a:lstStyle/>
          <a:p>
            <a:pPr marL="0" indent="0" algn="l">
              <a:lnSpc>
                <a:spcPts val="2250"/>
              </a:lnSpc>
              <a:buNone/>
            </a:pPr>
            <a:r>
              <a:rPr lang="en-US" sz="2250" b="1" dirty="0">
                <a:solidFill>
                  <a:srgbClr val="403C4E"/>
                </a:solidFill>
                <a:latin typeface="Merriweather Bold" pitchFamily="34" charset="0"/>
                <a:ea typeface="Merriweather Bold" pitchFamily="34" charset="-122"/>
                <a:cs typeface="Merriweather Bold" pitchFamily="34" charset="-120"/>
              </a:rPr>
              <a:t>2</a:t>
            </a:r>
            <a:endParaRPr lang="en-US" sz="2250" dirty="0"/>
          </a:p>
        </p:txBody>
      </p:sp>
      <p:sp>
        <p:nvSpPr>
          <p:cNvPr id="11" name="Text 9"/>
          <p:cNvSpPr/>
          <p:nvPr/>
        </p:nvSpPr>
        <p:spPr>
          <a:xfrm>
            <a:off x="7612737" y="2945963"/>
            <a:ext cx="4537234" cy="301228"/>
          </a:xfrm>
          <a:prstGeom prst="rect">
            <a:avLst/>
          </a:prstGeom>
          <a:noFill/>
          <a:ln/>
        </p:spPr>
        <p:txBody>
          <a:bodyPr wrap="none" lIns="0" tIns="0" rIns="0" bIns="0" rtlCol="0" anchor="t"/>
          <a:lstStyle/>
          <a:p>
            <a:pPr marL="0" indent="0" algn="l">
              <a:lnSpc>
                <a:spcPts val="2350"/>
              </a:lnSpc>
              <a:buNone/>
            </a:pPr>
            <a:r>
              <a:rPr lang="en-US" sz="1850" b="1" dirty="0">
                <a:solidFill>
                  <a:srgbClr val="403C4E"/>
                </a:solidFill>
                <a:latin typeface="Merriweather Bold" pitchFamily="34" charset="0"/>
                <a:ea typeface="Merriweather Bold" pitchFamily="34" charset="-122"/>
                <a:cs typeface="Merriweather Bold" pitchFamily="34" charset="-120"/>
              </a:rPr>
              <a:t>2. Keep Logistic Regression in shadow</a:t>
            </a:r>
            <a:endParaRPr lang="en-US" sz="1850" dirty="0"/>
          </a:p>
        </p:txBody>
      </p:sp>
      <p:sp>
        <p:nvSpPr>
          <p:cNvPr id="12" name="Text 10"/>
          <p:cNvSpPr/>
          <p:nvPr/>
        </p:nvSpPr>
        <p:spPr>
          <a:xfrm>
            <a:off x="7612737" y="3345418"/>
            <a:ext cx="6008251" cy="570548"/>
          </a:xfrm>
          <a:prstGeom prst="rect">
            <a:avLst/>
          </a:prstGeom>
          <a:noFill/>
          <a:ln/>
        </p:spPr>
        <p:txBody>
          <a:bodyPr wrap="square" lIns="0" tIns="0" rIns="0" bIns="0" rtlCol="0" anchor="t"/>
          <a:lstStyle/>
          <a:p>
            <a:pPr marL="0" indent="0" algn="l">
              <a:lnSpc>
                <a:spcPts val="2200"/>
              </a:lnSpc>
              <a:buNone/>
            </a:pPr>
            <a:r>
              <a:rPr lang="en-US" sz="1500" dirty="0">
                <a:solidFill>
                  <a:srgbClr val="403C4E"/>
                </a:solidFill>
                <a:latin typeface="Open Sans" pitchFamily="34" charset="0"/>
                <a:ea typeface="Open Sans" pitchFamily="34" charset="-122"/>
                <a:cs typeface="Open Sans" pitchFamily="34" charset="-120"/>
              </a:rPr>
              <a:t>Use for explainability and printable scorecards to justify outreach decisions during appeals.</a:t>
            </a:r>
            <a:endParaRPr lang="en-US" sz="1500" dirty="0"/>
          </a:p>
        </p:txBody>
      </p:sp>
      <p:sp>
        <p:nvSpPr>
          <p:cNvPr id="13" name="Shape 11"/>
          <p:cNvSpPr/>
          <p:nvPr/>
        </p:nvSpPr>
        <p:spPr>
          <a:xfrm>
            <a:off x="793790" y="4295418"/>
            <a:ext cx="6439495" cy="2235994"/>
          </a:xfrm>
          <a:prstGeom prst="roundRect">
            <a:avLst>
              <a:gd name="adj" fmla="val 3622"/>
            </a:avLst>
          </a:prstGeom>
          <a:solidFill>
            <a:srgbClr val="FFFFFF"/>
          </a:solidFill>
          <a:ln w="22860">
            <a:solidFill>
              <a:srgbClr val="E5BEB2"/>
            </a:solidFill>
            <a:prstDash val="solid"/>
          </a:ln>
        </p:spPr>
      </p:sp>
      <p:sp>
        <p:nvSpPr>
          <p:cNvPr id="14" name="Shape 12"/>
          <p:cNvSpPr/>
          <p:nvPr/>
        </p:nvSpPr>
        <p:spPr>
          <a:xfrm>
            <a:off x="816650" y="4318278"/>
            <a:ext cx="6393775" cy="578406"/>
          </a:xfrm>
          <a:prstGeom prst="roundRect">
            <a:avLst>
              <a:gd name="adj" fmla="val 9257"/>
            </a:avLst>
          </a:prstGeom>
          <a:solidFill>
            <a:srgbClr val="FFD8CC"/>
          </a:solidFill>
          <a:ln/>
        </p:spPr>
      </p:sp>
      <p:sp>
        <p:nvSpPr>
          <p:cNvPr id="15" name="Text 13"/>
          <p:cNvSpPr/>
          <p:nvPr/>
        </p:nvSpPr>
        <p:spPr>
          <a:xfrm>
            <a:off x="3868936" y="4422934"/>
            <a:ext cx="289203" cy="361474"/>
          </a:xfrm>
          <a:prstGeom prst="rect">
            <a:avLst/>
          </a:prstGeom>
          <a:noFill/>
          <a:ln/>
        </p:spPr>
        <p:txBody>
          <a:bodyPr wrap="none" lIns="0" tIns="0" rIns="0" bIns="0" rtlCol="0" anchor="t"/>
          <a:lstStyle/>
          <a:p>
            <a:pPr marL="0" indent="0" algn="l">
              <a:lnSpc>
                <a:spcPts val="2250"/>
              </a:lnSpc>
              <a:buNone/>
            </a:pPr>
            <a:r>
              <a:rPr lang="en-US" sz="2250" b="1" dirty="0">
                <a:solidFill>
                  <a:srgbClr val="403C4E"/>
                </a:solidFill>
                <a:latin typeface="Merriweather Bold" pitchFamily="34" charset="0"/>
                <a:ea typeface="Merriweather Bold" pitchFamily="34" charset="-122"/>
                <a:cs typeface="Merriweather Bold" pitchFamily="34" charset="-120"/>
              </a:rPr>
              <a:t>3</a:t>
            </a:r>
            <a:endParaRPr lang="en-US" sz="2250" dirty="0"/>
          </a:p>
        </p:txBody>
      </p:sp>
      <p:sp>
        <p:nvSpPr>
          <p:cNvPr id="16" name="Text 14"/>
          <p:cNvSpPr/>
          <p:nvPr/>
        </p:nvSpPr>
        <p:spPr>
          <a:xfrm>
            <a:off x="1009412" y="5060513"/>
            <a:ext cx="4735830" cy="301228"/>
          </a:xfrm>
          <a:prstGeom prst="rect">
            <a:avLst/>
          </a:prstGeom>
          <a:noFill/>
          <a:ln/>
        </p:spPr>
        <p:txBody>
          <a:bodyPr wrap="none" lIns="0" tIns="0" rIns="0" bIns="0" rtlCol="0" anchor="t"/>
          <a:lstStyle/>
          <a:p>
            <a:pPr marL="0" indent="0" algn="l">
              <a:lnSpc>
                <a:spcPts val="2350"/>
              </a:lnSpc>
              <a:buNone/>
            </a:pPr>
            <a:r>
              <a:rPr lang="en-US" sz="1850" b="1" dirty="0">
                <a:solidFill>
                  <a:srgbClr val="403C4E"/>
                </a:solidFill>
                <a:latin typeface="Merriweather Bold" pitchFamily="34" charset="0"/>
                <a:ea typeface="Merriweather Bold" pitchFamily="34" charset="-122"/>
                <a:cs typeface="Merriweather Bold" pitchFamily="34" charset="-120"/>
              </a:rPr>
              <a:t>3. Operationalize targeted interventions</a:t>
            </a:r>
            <a:endParaRPr lang="en-US" sz="1850" dirty="0"/>
          </a:p>
        </p:txBody>
      </p:sp>
      <p:sp>
        <p:nvSpPr>
          <p:cNvPr id="17" name="Text 15"/>
          <p:cNvSpPr/>
          <p:nvPr/>
        </p:nvSpPr>
        <p:spPr>
          <a:xfrm>
            <a:off x="1009412" y="5459968"/>
            <a:ext cx="6008251" cy="855821"/>
          </a:xfrm>
          <a:prstGeom prst="rect">
            <a:avLst/>
          </a:prstGeom>
          <a:noFill/>
          <a:ln/>
        </p:spPr>
        <p:txBody>
          <a:bodyPr wrap="square" lIns="0" tIns="0" rIns="0" bIns="0" rtlCol="0" anchor="t"/>
          <a:lstStyle/>
          <a:p>
            <a:pPr marL="0" indent="0" algn="l">
              <a:lnSpc>
                <a:spcPts val="2200"/>
              </a:lnSpc>
              <a:buNone/>
            </a:pPr>
            <a:r>
              <a:rPr lang="en-US" sz="1500" dirty="0">
                <a:solidFill>
                  <a:srgbClr val="403C4E"/>
                </a:solidFill>
                <a:latin typeface="Open Sans" pitchFamily="34" charset="0"/>
                <a:ea typeface="Open Sans" pitchFamily="34" charset="-122"/>
                <a:cs typeface="Open Sans" pitchFamily="34" charset="-120"/>
              </a:rPr>
              <a:t>Prioritize arrears resolution (debt restructuring), fast meter inspections where billing anomalies appear, and SLA-driven outage-response communication.</a:t>
            </a:r>
            <a:endParaRPr lang="en-US" sz="1500" dirty="0"/>
          </a:p>
        </p:txBody>
      </p:sp>
      <p:sp>
        <p:nvSpPr>
          <p:cNvPr id="18" name="Shape 16"/>
          <p:cNvSpPr/>
          <p:nvPr/>
        </p:nvSpPr>
        <p:spPr>
          <a:xfrm>
            <a:off x="7397115" y="4295418"/>
            <a:ext cx="6439495" cy="2235994"/>
          </a:xfrm>
          <a:prstGeom prst="roundRect">
            <a:avLst>
              <a:gd name="adj" fmla="val 3622"/>
            </a:avLst>
          </a:prstGeom>
          <a:solidFill>
            <a:srgbClr val="FFFFFF"/>
          </a:solidFill>
          <a:ln w="22860">
            <a:solidFill>
              <a:srgbClr val="E5BEB2"/>
            </a:solidFill>
            <a:prstDash val="solid"/>
          </a:ln>
        </p:spPr>
      </p:sp>
      <p:sp>
        <p:nvSpPr>
          <p:cNvPr id="19" name="Shape 17"/>
          <p:cNvSpPr/>
          <p:nvPr/>
        </p:nvSpPr>
        <p:spPr>
          <a:xfrm>
            <a:off x="7419975" y="4318278"/>
            <a:ext cx="6393775" cy="578406"/>
          </a:xfrm>
          <a:prstGeom prst="roundRect">
            <a:avLst>
              <a:gd name="adj" fmla="val 9257"/>
            </a:avLst>
          </a:prstGeom>
          <a:solidFill>
            <a:srgbClr val="FFD8CC"/>
          </a:solidFill>
          <a:ln/>
        </p:spPr>
      </p:sp>
      <p:sp>
        <p:nvSpPr>
          <p:cNvPr id="20" name="Text 18"/>
          <p:cNvSpPr/>
          <p:nvPr/>
        </p:nvSpPr>
        <p:spPr>
          <a:xfrm>
            <a:off x="10472261" y="4422934"/>
            <a:ext cx="289203" cy="361474"/>
          </a:xfrm>
          <a:prstGeom prst="rect">
            <a:avLst/>
          </a:prstGeom>
          <a:noFill/>
          <a:ln/>
        </p:spPr>
        <p:txBody>
          <a:bodyPr wrap="none" lIns="0" tIns="0" rIns="0" bIns="0" rtlCol="0" anchor="t"/>
          <a:lstStyle/>
          <a:p>
            <a:pPr marL="0" indent="0" algn="l">
              <a:lnSpc>
                <a:spcPts val="2250"/>
              </a:lnSpc>
              <a:buNone/>
            </a:pPr>
            <a:r>
              <a:rPr lang="en-US" sz="2250" b="1" dirty="0">
                <a:solidFill>
                  <a:srgbClr val="403C4E"/>
                </a:solidFill>
                <a:latin typeface="Merriweather Bold" pitchFamily="34" charset="0"/>
                <a:ea typeface="Merriweather Bold" pitchFamily="34" charset="-122"/>
                <a:cs typeface="Merriweather Bold" pitchFamily="34" charset="-120"/>
              </a:rPr>
              <a:t>4</a:t>
            </a:r>
            <a:endParaRPr lang="en-US" sz="2250" dirty="0"/>
          </a:p>
        </p:txBody>
      </p:sp>
      <p:sp>
        <p:nvSpPr>
          <p:cNvPr id="21" name="Text 19"/>
          <p:cNvSpPr/>
          <p:nvPr/>
        </p:nvSpPr>
        <p:spPr>
          <a:xfrm>
            <a:off x="7612737" y="5060513"/>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403C4E"/>
                </a:solidFill>
                <a:latin typeface="Merriweather Bold" pitchFamily="34" charset="0"/>
                <a:ea typeface="Merriweather Bold" pitchFamily="34" charset="-122"/>
                <a:cs typeface="Merriweather Bold" pitchFamily="34" charset="-120"/>
              </a:rPr>
              <a:t>4. Measure &amp; iterate</a:t>
            </a:r>
            <a:endParaRPr lang="en-US" sz="1850" dirty="0"/>
          </a:p>
        </p:txBody>
      </p:sp>
      <p:sp>
        <p:nvSpPr>
          <p:cNvPr id="22" name="Text 20"/>
          <p:cNvSpPr/>
          <p:nvPr/>
        </p:nvSpPr>
        <p:spPr>
          <a:xfrm>
            <a:off x="7612737" y="5459968"/>
            <a:ext cx="6008251" cy="855821"/>
          </a:xfrm>
          <a:prstGeom prst="rect">
            <a:avLst/>
          </a:prstGeom>
          <a:noFill/>
          <a:ln/>
        </p:spPr>
        <p:txBody>
          <a:bodyPr wrap="square" lIns="0" tIns="0" rIns="0" bIns="0" rtlCol="0" anchor="t"/>
          <a:lstStyle/>
          <a:p>
            <a:pPr marL="0" indent="0" algn="l">
              <a:lnSpc>
                <a:spcPts val="2200"/>
              </a:lnSpc>
              <a:buNone/>
            </a:pPr>
            <a:r>
              <a:rPr lang="en-US" sz="1500" dirty="0">
                <a:solidFill>
                  <a:srgbClr val="403C4E"/>
                </a:solidFill>
                <a:latin typeface="Open Sans" pitchFamily="34" charset="0"/>
                <a:ea typeface="Open Sans" pitchFamily="34" charset="-122"/>
                <a:cs typeface="Open Sans" pitchFamily="34" charset="-120"/>
              </a:rPr>
              <a:t>Track retention conversion, cost per saved customer, and model drift; retrain quarterly with fresh labels and feedback from retention outcomes.</a:t>
            </a:r>
            <a:endParaRPr lang="en-US" sz="1500" dirty="0"/>
          </a:p>
        </p:txBody>
      </p:sp>
      <p:sp>
        <p:nvSpPr>
          <p:cNvPr id="23" name="Shape 21"/>
          <p:cNvSpPr/>
          <p:nvPr/>
        </p:nvSpPr>
        <p:spPr>
          <a:xfrm>
            <a:off x="793790" y="6763822"/>
            <a:ext cx="13042821" cy="14407"/>
          </a:xfrm>
          <a:prstGeom prst="rect">
            <a:avLst/>
          </a:prstGeom>
          <a:solidFill>
            <a:srgbClr val="403C4E">
              <a:alpha val="50000"/>
            </a:srgbClr>
          </a:solidFill>
          <a:ln/>
        </p:spPr>
      </p:sp>
      <p:sp>
        <p:nvSpPr>
          <p:cNvPr id="24" name="Text 22"/>
          <p:cNvSpPr/>
          <p:nvPr/>
        </p:nvSpPr>
        <p:spPr>
          <a:xfrm>
            <a:off x="793790" y="7010638"/>
            <a:ext cx="13042821" cy="570548"/>
          </a:xfrm>
          <a:prstGeom prst="rect">
            <a:avLst/>
          </a:prstGeom>
          <a:noFill/>
          <a:ln/>
        </p:spPr>
        <p:txBody>
          <a:bodyPr wrap="square" lIns="0" tIns="0" rIns="0" bIns="0" rtlCol="0" anchor="t"/>
          <a:lstStyle/>
          <a:p>
            <a:pPr marL="0" indent="0" algn="l">
              <a:lnSpc>
                <a:spcPts val="2200"/>
              </a:lnSpc>
              <a:buNone/>
            </a:pPr>
            <a:r>
              <a:rPr lang="en-US" sz="1500" dirty="0">
                <a:solidFill>
                  <a:srgbClr val="403C4E"/>
                </a:solidFill>
                <a:latin typeface="Open Sans" pitchFamily="34" charset="0"/>
                <a:ea typeface="Open Sans" pitchFamily="34" charset="-122"/>
                <a:cs typeface="Open Sans" pitchFamily="34" charset="-120"/>
              </a:rPr>
              <a:t> Closing points: churn is driven by arrears, outage duration, and poor service response — not outages alone. A combined ML + human retention workflow preserves revenue, restores trust, and makes AEDC's investments sustainable.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710</Words>
  <Application>Microsoft Office PowerPoint</Application>
  <PresentationFormat>Custom</PresentationFormat>
  <Paragraphs>78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Merriweather Bold</vt:lpstr>
      <vt:lpstr>Calibri</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USER</cp:lastModifiedBy>
  <cp:revision>2</cp:revision>
  <dcterms:created xsi:type="dcterms:W3CDTF">2026-04-16T15:53:48Z</dcterms:created>
  <dcterms:modified xsi:type="dcterms:W3CDTF">2026-04-16T16:03:24Z</dcterms:modified>
</cp:coreProperties>
</file>