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74" r:id="rId3"/>
    <p:sldId id="258" r:id="rId4"/>
    <p:sldId id="281" r:id="rId5"/>
    <p:sldId id="262" r:id="rId6"/>
    <p:sldId id="260" r:id="rId7"/>
    <p:sldId id="283" r:id="rId8"/>
    <p:sldId id="273" r:id="rId9"/>
    <p:sldId id="261" r:id="rId10"/>
    <p:sldId id="263" r:id="rId11"/>
    <p:sldId id="264" r:id="rId12"/>
    <p:sldId id="266" r:id="rId13"/>
    <p:sldId id="267" r:id="rId14"/>
    <p:sldId id="278" r:id="rId15"/>
    <p:sldId id="275" r:id="rId16"/>
    <p:sldId id="276" r:id="rId17"/>
    <p:sldId id="284" r:id="rId18"/>
    <p:sldId id="285" r:id="rId19"/>
    <p:sldId id="28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0" d="100"/>
          <a:sy n="80" d="100"/>
        </p:scale>
        <p:origin x="82" y="4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980661"/>
            <a:ext cx="9519699" cy="1804945"/>
          </a:xfrm>
        </p:spPr>
        <p:txBody>
          <a:bodyPr>
            <a:normAutofit/>
          </a:bodyPr>
          <a:lstStyle/>
          <a:p>
            <a:r>
              <a:rPr lang="en-US" b="1" dirty="0"/>
              <a:t>Predicting Customer Churn for Abuja Electricity Distribution Company (AEDC)</a:t>
            </a:r>
          </a:p>
        </p:txBody>
      </p:sp>
      <p:sp>
        <p:nvSpPr>
          <p:cNvPr id="3" name="Content Placeholder 2"/>
          <p:cNvSpPr>
            <a:spLocks noGrp="1"/>
          </p:cNvSpPr>
          <p:nvPr>
            <p:ph idx="1"/>
          </p:nvPr>
        </p:nvSpPr>
        <p:spPr>
          <a:xfrm>
            <a:off x="1981200" y="2209800"/>
            <a:ext cx="9523412" cy="4219575"/>
          </a:xfrm>
        </p:spPr>
        <p:txBody>
          <a:bodyPr>
            <a:normAutofit/>
          </a:bodyPr>
          <a:lstStyle/>
          <a:p>
            <a:pPr marL="0" indent="0">
              <a:buNone/>
            </a:pPr>
            <a:r>
              <a:rPr lang="en-US" dirty="0" smtClean="0"/>
              <a:t>Identify </a:t>
            </a:r>
            <a:r>
              <a:rPr lang="en-US" dirty="0"/>
              <a:t>customers likely to stop using the Abuja Electricity Distribution Company and Develop Proactive Retention Strategies</a:t>
            </a:r>
            <a:r>
              <a:rPr lang="en-US" dirty="0" smtClean="0"/>
              <a:t>.</a:t>
            </a:r>
            <a:endParaRPr lang="en-US" dirty="0"/>
          </a:p>
          <a:p>
            <a:pPr marL="0" indent="0">
              <a:buNone/>
            </a:pPr>
            <a:endParaRPr lang="en-US" dirty="0" smtClean="0"/>
          </a:p>
          <a:p>
            <a:pPr marL="0" indent="0">
              <a:buNone/>
            </a:pPr>
            <a:endParaRPr lang="en-US" dirty="0" smtClean="0"/>
          </a:p>
          <a:p>
            <a:pPr marL="0" indent="0">
              <a:buNone/>
            </a:pPr>
            <a:endParaRPr lang="en-US" dirty="0"/>
          </a:p>
          <a:p>
            <a:pPr marL="0" indent="0">
              <a:buNone/>
            </a:pPr>
            <a:r>
              <a:rPr lang="en-US" sz="1600" dirty="0" smtClean="0"/>
              <a:t>                                                                                             </a:t>
            </a:r>
          </a:p>
          <a:p>
            <a:pPr marL="0" indent="0">
              <a:buNone/>
            </a:pPr>
            <a:endParaRPr lang="en-US" sz="1600" dirty="0"/>
          </a:p>
          <a:p>
            <a:pPr marL="0" indent="0">
              <a:buNone/>
            </a:pPr>
            <a:r>
              <a:rPr lang="en-US" sz="1600" dirty="0" smtClean="0"/>
              <a:t>                                                                                            Mentee Name: </a:t>
            </a:r>
            <a:r>
              <a:rPr lang="en-US" sz="1600" dirty="0" err="1" smtClean="0"/>
              <a:t>Bwatna</a:t>
            </a:r>
            <a:r>
              <a:rPr lang="en-US" sz="1600" dirty="0" smtClean="0"/>
              <a:t> </a:t>
            </a:r>
            <a:r>
              <a:rPr lang="en-US" sz="1600" dirty="0" err="1" smtClean="0"/>
              <a:t>Kuyembo</a:t>
            </a:r>
            <a:endParaRPr lang="en-US" sz="1600" dirty="0" smtClean="0"/>
          </a:p>
          <a:p>
            <a:pPr marL="0" indent="0">
              <a:buNone/>
            </a:pPr>
            <a:r>
              <a:rPr lang="en-US" sz="1600" dirty="0"/>
              <a:t> </a:t>
            </a:r>
            <a:r>
              <a:rPr lang="en-US" sz="1600" dirty="0" smtClean="0"/>
              <a:t>                                                                                            Mentor’s </a:t>
            </a:r>
            <a:r>
              <a:rPr lang="en-US" sz="1600" dirty="0"/>
              <a:t>Name: </a:t>
            </a:r>
            <a:r>
              <a:rPr lang="en-US" sz="1600" dirty="0" err="1"/>
              <a:t>Mr</a:t>
            </a:r>
            <a:r>
              <a:rPr lang="en-US" sz="1600" dirty="0"/>
              <a:t> </a:t>
            </a:r>
            <a:r>
              <a:rPr lang="en-US" sz="1600" dirty="0" err="1"/>
              <a:t>Isreal</a:t>
            </a:r>
            <a:r>
              <a:rPr lang="en-US" sz="1600" dirty="0"/>
              <a:t> </a:t>
            </a:r>
            <a:r>
              <a:rPr lang="en-US" sz="1600" dirty="0" err="1"/>
              <a:t>Odeajo</a:t>
            </a:r>
            <a:r>
              <a:rPr lang="en-US" sz="1600" dirty="0"/>
              <a:t> </a:t>
            </a:r>
            <a:endParaRPr lang="en-US" sz="1600" dirty="0" smtClean="0"/>
          </a:p>
          <a:p>
            <a:pPr marL="0" indent="0">
              <a:buNone/>
            </a:pPr>
            <a:r>
              <a:rPr lang="en-US" sz="1600" dirty="0" smtClean="0"/>
              <a:t>                                                                                 Group Name: 3MTT C2 Data Science (116)</a:t>
            </a:r>
          </a:p>
          <a:p>
            <a:pPr marL="0" indent="0">
              <a:buNone/>
            </a:pPr>
            <a:r>
              <a:rPr lang="en-US" sz="1600" dirty="0" smtClean="0"/>
              <a:t>                                                                                                                                          April </a:t>
            </a:r>
            <a:r>
              <a:rPr lang="en-US" sz="1600" dirty="0"/>
              <a:t>2026</a:t>
            </a:r>
          </a:p>
        </p:txBody>
      </p:sp>
    </p:spTree>
    <p:extLst>
      <p:ext uri="{BB962C8B-B14F-4D97-AF65-F5344CB8AC3E}">
        <p14:creationId xmlns:p14="http://schemas.microsoft.com/office/powerpoint/2010/main" val="13511811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1650" y="899153"/>
            <a:ext cx="9590087" cy="5634997"/>
          </a:xfrm>
        </p:spPr>
        <p:txBody>
          <a:bodyPr>
            <a:noAutofit/>
          </a:bodyPr>
          <a:lstStyle/>
          <a:p>
            <a:r>
              <a:rPr lang="en-US" sz="1600" dirty="0"/>
              <a:t>It is a Tuesday morning in </a:t>
            </a:r>
            <a:r>
              <a:rPr lang="en-US" sz="1600" dirty="0" err="1"/>
              <a:t>Garki</a:t>
            </a:r>
            <a:r>
              <a:rPr lang="en-US" sz="1600" dirty="0"/>
              <a:t> District II, Abuja. Mr. </a:t>
            </a:r>
            <a:r>
              <a:rPr lang="en-US" sz="1600" dirty="0" err="1"/>
              <a:t>Emeka</a:t>
            </a:r>
            <a:r>
              <a:rPr lang="en-US" sz="1600" dirty="0"/>
              <a:t> Okonkwo, a small business owner running a tailoring shop on </a:t>
            </a:r>
            <a:r>
              <a:rPr lang="en-US" sz="1600" dirty="0" err="1"/>
              <a:t>Ahmadu</a:t>
            </a:r>
            <a:r>
              <a:rPr lang="en-US" sz="1600" dirty="0"/>
              <a:t> Bello Way, has just received his third consecutive electricity bill that feels grossly inflated. Load-shedding cut his work hours by 40% last month, yet his bill shows no reduction. He calls the AEDC customer care line </a:t>
            </a:r>
            <a:r>
              <a:rPr lang="en-US" sz="1600" dirty="0" smtClean="0"/>
              <a:t>- </a:t>
            </a:r>
            <a:r>
              <a:rPr lang="en-US" sz="1600" dirty="0"/>
              <a:t>it rings unanswered for 11 minutes. That evening, he walks into a </a:t>
            </a:r>
            <a:r>
              <a:rPr lang="en-US" sz="1600" dirty="0" err="1"/>
              <a:t>neighbour's</a:t>
            </a:r>
            <a:r>
              <a:rPr lang="en-US" sz="1600" dirty="0"/>
              <a:t> compound and notices the glowing hum of a 10 kVA generator. A week later, </a:t>
            </a:r>
            <a:r>
              <a:rPr lang="en-US" sz="1600" dirty="0" err="1"/>
              <a:t>Emeka</a:t>
            </a:r>
            <a:r>
              <a:rPr lang="en-US" sz="1600" dirty="0"/>
              <a:t> purchases his own. He applies for a "low-usage" tariff review, hears nothing, and quietly disconnects his AEDC meter. He is now a </a:t>
            </a:r>
            <a:r>
              <a:rPr lang="en-US" sz="1600" b="1" dirty="0"/>
              <a:t>churned customer</a:t>
            </a:r>
            <a:r>
              <a:rPr lang="en-US" sz="1600" dirty="0"/>
              <a:t>.</a:t>
            </a:r>
          </a:p>
          <a:p>
            <a:r>
              <a:rPr lang="en-US" sz="1600" dirty="0"/>
              <a:t>Across the FCT </a:t>
            </a:r>
            <a:r>
              <a:rPr lang="en-US" sz="1600" dirty="0" smtClean="0"/>
              <a:t>- </a:t>
            </a:r>
            <a:r>
              <a:rPr lang="en-US" sz="1600" dirty="0"/>
              <a:t>in </a:t>
            </a:r>
            <a:r>
              <a:rPr lang="en-US" sz="1600" dirty="0" err="1"/>
              <a:t>Wuse</a:t>
            </a:r>
            <a:r>
              <a:rPr lang="en-US" sz="1600" dirty="0"/>
              <a:t> Market stalls, </a:t>
            </a:r>
            <a:r>
              <a:rPr lang="en-US" sz="1600" dirty="0" err="1"/>
              <a:t>Lugbe</a:t>
            </a:r>
            <a:r>
              <a:rPr lang="en-US" sz="1600" dirty="0"/>
              <a:t> residential apartments, and </a:t>
            </a:r>
            <a:r>
              <a:rPr lang="en-US" sz="1600" dirty="0" err="1"/>
              <a:t>Kubwa</a:t>
            </a:r>
            <a:r>
              <a:rPr lang="en-US" sz="1600" dirty="0"/>
              <a:t> satellite towns </a:t>
            </a:r>
            <a:r>
              <a:rPr lang="en-US" sz="1600" dirty="0" smtClean="0"/>
              <a:t>- </a:t>
            </a:r>
            <a:r>
              <a:rPr lang="en-US" sz="1600" dirty="0"/>
              <a:t>hundreds of </a:t>
            </a:r>
            <a:r>
              <a:rPr lang="en-US" sz="1600" dirty="0" err="1"/>
              <a:t>Emekas</a:t>
            </a:r>
            <a:r>
              <a:rPr lang="en-US" sz="1600" dirty="0"/>
              <a:t> make the same calculation every quarter. They switch to diesel generators, solar inverter systems, or simply go off-grid. AEDC loses not just revenue from those connections but also the compounding effect of infrastructure investment that can never be recouped from a shrinking customer base.</a:t>
            </a:r>
          </a:p>
          <a:p>
            <a:r>
              <a:rPr lang="en-US" sz="1600" dirty="0"/>
              <a:t>The Churn Prediction team at AEDC's Analytics Centre in Central Business District is handed a challenge: </a:t>
            </a:r>
            <a:r>
              <a:rPr lang="en-US" sz="1600" i="1" dirty="0"/>
              <a:t>can we identify which customers are about to leave </a:t>
            </a:r>
            <a:r>
              <a:rPr lang="en-US" sz="1600" i="1" dirty="0" smtClean="0"/>
              <a:t>- </a:t>
            </a:r>
            <a:r>
              <a:rPr lang="en-US" sz="1600" i="1" dirty="0"/>
              <a:t>before they leave?</a:t>
            </a:r>
            <a:r>
              <a:rPr lang="en-US" sz="1600" dirty="0"/>
              <a:t> They have 18 months of billing records, complaint logs, outage incidents, tariff-class data, and demographic signals. The goal is a machine-learning model that flags at-risk customers early enough for the Retention Team to intervene </a:t>
            </a:r>
            <a:r>
              <a:rPr lang="en-US" sz="1600" dirty="0" smtClean="0"/>
              <a:t>- </a:t>
            </a:r>
            <a:r>
              <a:rPr lang="en-US" sz="1600" dirty="0"/>
              <a:t>a targeted discount, a proactive callback, a meter inspection, or a genuine bill correction.</a:t>
            </a:r>
          </a:p>
          <a:p>
            <a:endParaRPr lang="en-US" sz="1600" dirty="0"/>
          </a:p>
        </p:txBody>
      </p:sp>
    </p:spTree>
    <p:extLst>
      <p:ext uri="{BB962C8B-B14F-4D97-AF65-F5344CB8AC3E}">
        <p14:creationId xmlns:p14="http://schemas.microsoft.com/office/powerpoint/2010/main" val="1501047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14300"/>
            <a:ext cx="8911687" cy="676275"/>
          </a:xfrm>
        </p:spPr>
        <p:txBody>
          <a:bodyPr/>
          <a:lstStyle/>
          <a:p>
            <a:r>
              <a:rPr lang="en-US" dirty="0" smtClean="0"/>
              <a:t>      </a:t>
            </a:r>
            <a:r>
              <a:rPr lang="en-US" b="1" dirty="0" smtClean="0"/>
              <a:t>Problem statement</a:t>
            </a:r>
            <a:endParaRPr lang="en-US" b="1" dirty="0"/>
          </a:p>
        </p:txBody>
      </p:sp>
      <p:sp>
        <p:nvSpPr>
          <p:cNvPr id="3" name="Content Placeholder 2"/>
          <p:cNvSpPr>
            <a:spLocks noGrp="1"/>
          </p:cNvSpPr>
          <p:nvPr>
            <p:ph idx="1"/>
          </p:nvPr>
        </p:nvSpPr>
        <p:spPr>
          <a:xfrm>
            <a:off x="2038350" y="942975"/>
            <a:ext cx="9466262" cy="5772150"/>
          </a:xfrm>
        </p:spPr>
        <p:txBody>
          <a:bodyPr>
            <a:normAutofit fontScale="77500" lnSpcReduction="20000"/>
          </a:bodyPr>
          <a:lstStyle/>
          <a:p>
            <a:r>
              <a:rPr lang="en-US" sz="3300" dirty="0"/>
              <a:t>This project focuses on predicting customer churn using AEDC customer transaction and service experience data. The dataset contains customer demographic information, billing and transaction details, energy consumption, service usage, outage frequency and duration, complaint frequency, satisfaction scores, and debt/arrears history</a:t>
            </a:r>
            <a:r>
              <a:rPr lang="en-US" sz="3300" dirty="0" smtClean="0"/>
              <a:t>.</a:t>
            </a:r>
          </a:p>
          <a:p>
            <a:endParaRPr lang="en-US" sz="3300" dirty="0"/>
          </a:p>
          <a:p>
            <a:pPr fontAlgn="base"/>
            <a:r>
              <a:rPr lang="en-US" sz="3300" b="1" dirty="0" smtClean="0">
                <a:solidFill>
                  <a:schemeClr val="accent2">
                    <a:lumMod val="75000"/>
                  </a:schemeClr>
                </a:solidFill>
              </a:rPr>
              <a:t>IMPORTANCE OF THE PROJECT</a:t>
            </a:r>
          </a:p>
          <a:p>
            <a:pPr marL="0" indent="0" fontAlgn="base">
              <a:buNone/>
            </a:pPr>
            <a:endParaRPr lang="en-US" sz="3300" b="1" dirty="0" smtClean="0"/>
          </a:p>
          <a:p>
            <a:pPr lvl="0"/>
            <a:r>
              <a:rPr lang="en-US" sz="3400" dirty="0" smtClean="0"/>
              <a:t>Electricity </a:t>
            </a:r>
            <a:r>
              <a:rPr lang="en-US" sz="3400" dirty="0"/>
              <a:t>is essential for economic growth</a:t>
            </a:r>
          </a:p>
          <a:p>
            <a:pPr lvl="0"/>
            <a:r>
              <a:rPr lang="en-US" sz="3400" dirty="0"/>
              <a:t>Overbilling and inefficient usage drain household income</a:t>
            </a:r>
          </a:p>
          <a:p>
            <a:pPr lvl="0"/>
            <a:r>
              <a:rPr lang="en-US" sz="3400" dirty="0"/>
              <a:t>Smart tracking leads to better budgeting and cost savings</a:t>
            </a:r>
          </a:p>
          <a:p>
            <a:pPr marL="0" indent="0" fontAlgn="base">
              <a:buNone/>
            </a:pPr>
            <a:endParaRPr lang="en-US" sz="3300" dirty="0"/>
          </a:p>
          <a:p>
            <a:endParaRPr lang="en-US" sz="3300" dirty="0"/>
          </a:p>
          <a:p>
            <a:pPr marL="0" indent="0">
              <a:buNone/>
            </a:pPr>
            <a:endParaRPr lang="en-US" sz="3300" dirty="0"/>
          </a:p>
          <a:p>
            <a:pPr marL="0" indent="0" fontAlgn="base">
              <a:buNone/>
            </a:pPr>
            <a:endParaRPr lang="en-US" sz="3800" dirty="0"/>
          </a:p>
          <a:p>
            <a:pPr marL="0" indent="0" fontAlgn="base">
              <a:buNone/>
            </a:pPr>
            <a:endParaRPr lang="en-US" sz="2800" dirty="0">
              <a:solidFill>
                <a:schemeClr val="accent2">
                  <a:lumMod val="75000"/>
                </a:schemeClr>
              </a:solidFill>
            </a:endParaRPr>
          </a:p>
        </p:txBody>
      </p:sp>
    </p:spTree>
    <p:extLst>
      <p:ext uri="{BB962C8B-B14F-4D97-AF65-F5344CB8AC3E}">
        <p14:creationId xmlns:p14="http://schemas.microsoft.com/office/powerpoint/2010/main" val="3747906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775" y="624110"/>
            <a:ext cx="8911687" cy="614140"/>
          </a:xfrm>
        </p:spPr>
        <p:txBody>
          <a:bodyPr>
            <a:normAutofit/>
          </a:bodyPr>
          <a:lstStyle/>
          <a:p>
            <a:r>
              <a:rPr lang="en-US" sz="2800" b="1" dirty="0" smtClean="0"/>
              <a:t>Project Overview </a:t>
            </a:r>
            <a:endParaRPr lang="en-US" sz="2800" b="1" dirty="0"/>
          </a:p>
        </p:txBody>
      </p:sp>
      <p:sp>
        <p:nvSpPr>
          <p:cNvPr id="3" name="Content Placeholder 2"/>
          <p:cNvSpPr>
            <a:spLocks noGrp="1"/>
          </p:cNvSpPr>
          <p:nvPr>
            <p:ph idx="1"/>
          </p:nvPr>
        </p:nvSpPr>
        <p:spPr>
          <a:xfrm>
            <a:off x="1628775" y="1238250"/>
            <a:ext cx="10352087" cy="5314950"/>
          </a:xfrm>
        </p:spPr>
        <p:txBody>
          <a:bodyPr>
            <a:normAutofit/>
          </a:bodyPr>
          <a:lstStyle/>
          <a:p>
            <a:pPr marL="0" indent="0">
              <a:buNone/>
            </a:pPr>
            <a:r>
              <a:rPr lang="en-US" dirty="0" smtClean="0"/>
              <a:t> </a:t>
            </a:r>
          </a:p>
          <a:p>
            <a:pPr marL="0" indent="0">
              <a:buNone/>
            </a:pPr>
            <a:r>
              <a:rPr lang="en-US" dirty="0" smtClean="0"/>
              <a:t>The </a:t>
            </a:r>
            <a:r>
              <a:rPr lang="en-US" dirty="0"/>
              <a:t>project builds a </a:t>
            </a:r>
            <a:r>
              <a:rPr lang="en-US" b="1" dirty="0"/>
              <a:t>machine learning system that predicts which electricity customers in Abuja are likely to stop using AEDC's service (churn)</a:t>
            </a:r>
            <a:r>
              <a:rPr lang="en-US" dirty="0"/>
              <a:t>  </a:t>
            </a:r>
            <a:r>
              <a:rPr lang="en-US" dirty="0" smtClean="0"/>
              <a:t>- before </a:t>
            </a:r>
            <a:r>
              <a:rPr lang="en-US" dirty="0"/>
              <a:t>they actually leave. This gives AEDC's retention team </a:t>
            </a:r>
            <a:r>
              <a:rPr lang="en-US" dirty="0" smtClean="0"/>
              <a:t>a warning </a:t>
            </a:r>
            <a:r>
              <a:rPr lang="en-US" dirty="0"/>
              <a:t>to intervene with targeted offers, debt restructuring plans, or service improvements.</a:t>
            </a:r>
          </a:p>
          <a:p>
            <a:pPr marL="0" indent="0">
              <a:buNone/>
            </a:pPr>
            <a:r>
              <a:rPr lang="en-US" dirty="0" smtClean="0"/>
              <a:t>The </a:t>
            </a:r>
            <a:r>
              <a:rPr lang="en-US" dirty="0"/>
              <a:t>goal is to use data science and machine learning techniques to:</a:t>
            </a:r>
          </a:p>
          <a:p>
            <a:pPr lvl="0"/>
            <a:r>
              <a:rPr lang="en-US" dirty="0" smtClean="0"/>
              <a:t>build </a:t>
            </a:r>
            <a:r>
              <a:rPr lang="en-US" dirty="0"/>
              <a:t>a predictive model that identifies customers at risk of leaving,</a:t>
            </a:r>
          </a:p>
          <a:p>
            <a:pPr lvl="0"/>
            <a:r>
              <a:rPr lang="en-US" dirty="0" smtClean="0"/>
              <a:t>Recommend </a:t>
            </a:r>
            <a:r>
              <a:rPr lang="en-US" dirty="0"/>
              <a:t>proactive retention strategies based on model insights</a:t>
            </a:r>
            <a:r>
              <a:rPr lang="en-US" dirty="0" smtClean="0"/>
              <a:t>.</a:t>
            </a:r>
          </a:p>
          <a:p>
            <a:r>
              <a:rPr lang="en-US" dirty="0"/>
              <a:t>understand key drivers of customer churn,</a:t>
            </a:r>
          </a:p>
          <a:p>
            <a:pPr marL="0" indent="0" fontAlgn="base">
              <a:buNone/>
            </a:pPr>
            <a:r>
              <a:rPr lang="en-US" sz="2800" b="1" dirty="0" smtClean="0">
                <a:solidFill>
                  <a:schemeClr val="accent2">
                    <a:lumMod val="75000"/>
                  </a:schemeClr>
                </a:solidFill>
              </a:rPr>
              <a:t>Solution</a:t>
            </a:r>
          </a:p>
          <a:p>
            <a:pPr marL="0" indent="0" fontAlgn="base">
              <a:buNone/>
            </a:pPr>
            <a:r>
              <a:rPr lang="en-US" dirty="0" smtClean="0">
                <a:solidFill>
                  <a:schemeClr val="tx1"/>
                </a:solidFill>
              </a:rPr>
              <a:t>The project turns 2,500 rows of billing data into a deployable early-warning system. The Random Forest model can score every active AEDC customer at each billing cycle, flag those above a 0.35 churn probability threshold, and route them to the retention team - converting a reactive problem into a proactive one.</a:t>
            </a:r>
          </a:p>
          <a:p>
            <a:pPr marL="0" indent="0" fontAlgn="base">
              <a:buNone/>
            </a:pPr>
            <a:endParaRPr lang="en-US" b="1" dirty="0" smtClean="0">
              <a:solidFill>
                <a:schemeClr val="accent2">
                  <a:lumMod val="75000"/>
                </a:schemeClr>
              </a:solidFill>
            </a:endParaRPr>
          </a:p>
        </p:txBody>
      </p:sp>
    </p:spTree>
    <p:extLst>
      <p:ext uri="{BB962C8B-B14F-4D97-AF65-F5344CB8AC3E}">
        <p14:creationId xmlns:p14="http://schemas.microsoft.com/office/powerpoint/2010/main" val="1074334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914400" eaLnBrk="0" fontAlgn="base" hangingPunct="0">
              <a:spcAft>
                <a:spcPct val="0"/>
              </a:spcAft>
              <a:tabLst>
                <a:tab pos="457200" algn="l"/>
              </a:tabLst>
            </a:pPr>
            <a:r>
              <a:rPr lang="en-US" altLang="en-US" dirty="0" smtClean="0">
                <a:solidFill>
                  <a:schemeClr val="accent2"/>
                </a:solidFill>
                <a:latin typeface="Calibri" panose="020F0502020204030204" pitchFamily="34" charset="0"/>
                <a:ea typeface="Times New Roman" panose="02020603050405020304" pitchFamily="18" charset="0"/>
                <a:cs typeface="Calibri" panose="020F0502020204030204" pitchFamily="34" charset="0"/>
              </a:rPr>
              <a:t/>
            </a:r>
            <a:br>
              <a:rPr lang="en-US" altLang="en-US" dirty="0" smtClean="0">
                <a:solidFill>
                  <a:schemeClr val="accent2"/>
                </a:solidFill>
                <a:latin typeface="Calibri" panose="020F0502020204030204" pitchFamily="34" charset="0"/>
                <a:ea typeface="Times New Roman" panose="02020603050405020304" pitchFamily="18" charset="0"/>
                <a:cs typeface="Calibri" panose="020F0502020204030204" pitchFamily="34" charset="0"/>
              </a:rPr>
            </a:br>
            <a:r>
              <a:rPr lang="en-US" altLang="en-US" dirty="0">
                <a:solidFill>
                  <a:schemeClr val="accent2"/>
                </a:solidFill>
                <a:latin typeface="Calibri" panose="020F0502020204030204" pitchFamily="34" charset="0"/>
                <a:ea typeface="Times New Roman" panose="02020603050405020304" pitchFamily="18" charset="0"/>
                <a:cs typeface="Calibri" panose="020F0502020204030204" pitchFamily="34" charset="0"/>
              </a:rPr>
              <a:t> </a:t>
            </a:r>
            <a:r>
              <a:rPr lang="en-US" altLang="en-US" dirty="0" smtClean="0">
                <a:solidFill>
                  <a:schemeClr val="accent2"/>
                </a:solidFill>
                <a:latin typeface="Calibri" panose="020F0502020204030204" pitchFamily="34" charset="0"/>
                <a:ea typeface="Times New Roman" panose="02020603050405020304" pitchFamily="18" charset="0"/>
                <a:cs typeface="Calibri" panose="020F0502020204030204" pitchFamily="34" charset="0"/>
              </a:rPr>
              <a:t>     </a:t>
            </a:r>
            <a:r>
              <a:rPr lang="en-US" altLang="en-US" b="1" dirty="0" smtClean="0">
                <a:latin typeface="Calibri" panose="020F0502020204030204" pitchFamily="34" charset="0"/>
                <a:ea typeface="Times New Roman" panose="02020603050405020304" pitchFamily="18" charset="0"/>
                <a:cs typeface="Calibri" panose="020F0502020204030204" pitchFamily="34" charset="0"/>
              </a:rPr>
              <a:t>Data </a:t>
            </a:r>
            <a:r>
              <a:rPr lang="en-US" altLang="en-US" b="1" dirty="0">
                <a:latin typeface="Calibri" panose="020F0502020204030204" pitchFamily="34" charset="0"/>
                <a:ea typeface="Times New Roman" panose="02020603050405020304" pitchFamily="18" charset="0"/>
                <a:cs typeface="Calibri" panose="020F0502020204030204" pitchFamily="34" charset="0"/>
              </a:rPr>
              <a:t>Cleaning and Preprocessing</a:t>
            </a:r>
            <a:endParaRPr lang="en-US" altLang="en-US" sz="4400" b="1" dirty="0">
              <a:ea typeface="Times New Roman" panose="02020603050405020304" pitchFamily="18" charset="0"/>
            </a:endParaRPr>
          </a:p>
        </p:txBody>
      </p:sp>
      <p:sp>
        <p:nvSpPr>
          <p:cNvPr id="6" name="Content Placeholder 5"/>
          <p:cNvSpPr>
            <a:spLocks noGrp="1"/>
          </p:cNvSpPr>
          <p:nvPr>
            <p:ph idx="1"/>
          </p:nvPr>
        </p:nvSpPr>
        <p:spPr/>
        <p:txBody>
          <a:bodyPr/>
          <a:lstStyle/>
          <a:p>
            <a:r>
              <a:rPr lang="en-US" dirty="0"/>
              <a:t>Checking the dataset structure, column names, and data </a:t>
            </a:r>
            <a:r>
              <a:rPr lang="en-US" dirty="0" smtClean="0"/>
              <a:t>types</a:t>
            </a:r>
          </a:p>
          <a:p>
            <a:pPr lvl="0"/>
            <a:r>
              <a:rPr lang="en-US" dirty="0"/>
              <a:t>Handling missing values: The single column with missing values is </a:t>
            </a:r>
            <a:r>
              <a:rPr lang="en-US" b="1" dirty="0"/>
              <a:t>Token</a:t>
            </a:r>
            <a:r>
              <a:rPr lang="en-US" dirty="0"/>
              <a:t> (1,242 nulls — 49.7%). This is a </a:t>
            </a:r>
            <a:r>
              <a:rPr lang="en-US" i="1" dirty="0"/>
              <a:t>structural</a:t>
            </a:r>
            <a:r>
              <a:rPr lang="en-US" dirty="0"/>
              <a:t> absence: Postpaid meter customers do not receive prepayment tokens by definition. We treat this as informative and fill it symbolically</a:t>
            </a:r>
            <a:r>
              <a:rPr lang="en-US" dirty="0" smtClean="0"/>
              <a:t>.  This </a:t>
            </a:r>
            <a:r>
              <a:rPr lang="en-US" dirty="0"/>
              <a:t>is a clean dataset, unusually so for utility billing data.</a:t>
            </a:r>
            <a:r>
              <a:rPr lang="en-US" dirty="0" smtClean="0"/>
              <a:t>  </a:t>
            </a:r>
            <a:endParaRPr lang="en-US" dirty="0"/>
          </a:p>
          <a:p>
            <a:pPr lvl="0"/>
            <a:r>
              <a:rPr lang="en-US" dirty="0"/>
              <a:t>Checking and removing duplicate records: which we didn’t have.</a:t>
            </a:r>
          </a:p>
          <a:p>
            <a:r>
              <a:rPr lang="en-US" dirty="0" smtClean="0"/>
              <a:t>Converting </a:t>
            </a:r>
            <a:r>
              <a:rPr lang="en-US" dirty="0" err="1" smtClean="0"/>
              <a:t>Transaction_DateTime</a:t>
            </a:r>
            <a:r>
              <a:rPr lang="en-US" dirty="0" smtClean="0"/>
              <a:t> into </a:t>
            </a:r>
            <a:r>
              <a:rPr lang="en-US" dirty="0" err="1" smtClean="0"/>
              <a:t>datetime</a:t>
            </a:r>
            <a:r>
              <a:rPr lang="en-US" dirty="0" smtClean="0"/>
              <a:t> format to enable time-series analysis.</a:t>
            </a:r>
            <a:endParaRPr lang="en-US" dirty="0"/>
          </a:p>
        </p:txBody>
      </p:sp>
    </p:spTree>
    <p:extLst>
      <p:ext uri="{BB962C8B-B14F-4D97-AF65-F5344CB8AC3E}">
        <p14:creationId xmlns:p14="http://schemas.microsoft.com/office/powerpoint/2010/main" val="15624086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80815"/>
          </a:xfrm>
        </p:spPr>
        <p:txBody>
          <a:bodyPr>
            <a:normAutofit fontScale="90000"/>
          </a:bodyPr>
          <a:lstStyle/>
          <a:p>
            <a:r>
              <a:rPr lang="en-US" altLang="en-US" b="1" dirty="0">
                <a:latin typeface="Arial" panose="020B0604020202020204" pitchFamily="34" charset="0"/>
              </a:rPr>
              <a:t> </a:t>
            </a:r>
            <a:r>
              <a:rPr lang="en-US" altLang="en-US" b="1" dirty="0" smtClean="0">
                <a:latin typeface="Arial" panose="020B0604020202020204" pitchFamily="34" charset="0"/>
              </a:rPr>
              <a:t>             Data </a:t>
            </a:r>
            <a:r>
              <a:rPr lang="en-US" altLang="en-US" b="1" dirty="0">
                <a:latin typeface="Arial" panose="020B0604020202020204" pitchFamily="34" charset="0"/>
              </a:rPr>
              <a:t>Description</a:t>
            </a:r>
            <a:br>
              <a:rPr lang="en-US" altLang="en-US" b="1" dirty="0">
                <a:latin typeface="Arial" panose="020B0604020202020204" pitchFamily="34" charset="0"/>
              </a:rPr>
            </a:br>
            <a:endParaRPr lang="en-US" dirty="0"/>
          </a:p>
        </p:txBody>
      </p:sp>
      <p:sp>
        <p:nvSpPr>
          <p:cNvPr id="3" name="Content Placeholder 2"/>
          <p:cNvSpPr>
            <a:spLocks noGrp="1"/>
          </p:cNvSpPr>
          <p:nvPr>
            <p:ph idx="1"/>
          </p:nvPr>
        </p:nvSpPr>
        <p:spPr>
          <a:xfrm>
            <a:off x="2674937" y="1428750"/>
            <a:ext cx="8915400" cy="5200650"/>
          </a:xfrm>
        </p:spPr>
        <p:txBody>
          <a:bodyPr>
            <a:normAutofit/>
          </a:bodyPr>
          <a:lstStyle/>
          <a:p>
            <a:r>
              <a:rPr lang="en-US" sz="1900" dirty="0"/>
              <a:t>The dataset is a realistic synthetic dataset representing AEDC customer records in Abuja with </a:t>
            </a:r>
            <a:r>
              <a:rPr lang="en-US" sz="1900" b="1" dirty="0"/>
              <a:t>2,500 </a:t>
            </a:r>
            <a:r>
              <a:rPr lang="en-US" sz="1900" b="1" dirty="0" smtClean="0"/>
              <a:t>rows</a:t>
            </a:r>
            <a:r>
              <a:rPr lang="en-US" sz="1900" dirty="0"/>
              <a:t> </a:t>
            </a:r>
            <a:r>
              <a:rPr lang="en-US" sz="1900" dirty="0" smtClean="0"/>
              <a:t>and </a:t>
            </a:r>
            <a:r>
              <a:rPr lang="en-US" sz="1900" b="1" dirty="0" smtClean="0"/>
              <a:t>33 columns.  </a:t>
            </a:r>
          </a:p>
          <a:p>
            <a:endParaRPr lang="en-US" sz="1900" b="1" dirty="0" smtClean="0"/>
          </a:p>
          <a:p>
            <a:r>
              <a:rPr lang="en-US" sz="1900" dirty="0"/>
              <a:t>Features include: </a:t>
            </a:r>
            <a:r>
              <a:rPr lang="en-US" sz="1900" dirty="0" err="1"/>
              <a:t>monthly_bill_amount</a:t>
            </a:r>
            <a:r>
              <a:rPr lang="en-US" sz="1900" dirty="0"/>
              <a:t>, </a:t>
            </a:r>
            <a:r>
              <a:rPr lang="en-US" sz="1900" dirty="0" err="1"/>
              <a:t>outage_frequency</a:t>
            </a:r>
            <a:r>
              <a:rPr lang="en-US" sz="1900" dirty="0"/>
              <a:t>, </a:t>
            </a:r>
            <a:r>
              <a:rPr lang="en-US" sz="1900" dirty="0" err="1"/>
              <a:t>complaint_count</a:t>
            </a:r>
            <a:r>
              <a:rPr lang="en-US" sz="1900" dirty="0"/>
              <a:t>, </a:t>
            </a:r>
            <a:r>
              <a:rPr lang="en-US" sz="1900" dirty="0" err="1"/>
              <a:t>tariff_class</a:t>
            </a:r>
            <a:r>
              <a:rPr lang="en-US" sz="1900" dirty="0"/>
              <a:t>, </a:t>
            </a:r>
            <a:r>
              <a:rPr lang="en-US" sz="1900" dirty="0" err="1"/>
              <a:t>payment_delay_days</a:t>
            </a:r>
            <a:r>
              <a:rPr lang="en-US" sz="1900" dirty="0"/>
              <a:t>, </a:t>
            </a:r>
            <a:r>
              <a:rPr lang="en-US" sz="1900" dirty="0" err="1"/>
              <a:t>tenure_months</a:t>
            </a:r>
            <a:r>
              <a:rPr lang="en-US" sz="1900" dirty="0"/>
              <a:t>, </a:t>
            </a:r>
            <a:r>
              <a:rPr lang="en-US" sz="1900" dirty="0" err="1"/>
              <a:t>meter_type</a:t>
            </a:r>
            <a:r>
              <a:rPr lang="en-US" sz="1900" dirty="0"/>
              <a:t>, </a:t>
            </a:r>
            <a:r>
              <a:rPr lang="en-US" sz="1900" dirty="0" err="1" smtClean="0"/>
              <a:t>energy_consumption_kwh</a:t>
            </a:r>
            <a:r>
              <a:rPr lang="en-US" sz="1900" dirty="0" smtClean="0"/>
              <a:t>.</a:t>
            </a:r>
          </a:p>
          <a:p>
            <a:r>
              <a:rPr lang="en-US" sz="1900" dirty="0" smtClean="0"/>
              <a:t>Target Variable : </a:t>
            </a:r>
            <a:r>
              <a:rPr lang="en-US" sz="1900" dirty="0" err="1"/>
              <a:t>churn_status</a:t>
            </a:r>
            <a:r>
              <a:rPr lang="en-US" sz="1900" dirty="0"/>
              <a:t> (1 = churned, 0 = retained</a:t>
            </a:r>
            <a:r>
              <a:rPr lang="en-US" sz="1900" dirty="0" smtClean="0"/>
              <a:t>).</a:t>
            </a:r>
          </a:p>
          <a:p>
            <a:r>
              <a:rPr lang="en-US" sz="1900" dirty="0"/>
              <a:t>Acquiring a new electricity customer costs AEDC approximately ₦45,000–₦80,000 in meter installation, inspection, and administrative overhead. Retaining an existing customer through a targeted intervention — a service visit, a corrected bill, or a tariff renegotiation — costs an average of ₦3,500–₦8,000. A model that prevents even 500 churns per quarter saves the business between ₦18.25M and ₦36M annually in acquisition replacement costs alone, excluding the lost revenue stream during the gap period.</a:t>
            </a:r>
            <a:endParaRPr lang="en-US" sz="1900" b="1" dirty="0" smtClean="0"/>
          </a:p>
          <a:p>
            <a:endParaRPr lang="en-US" b="1" dirty="0" smtClean="0"/>
          </a:p>
          <a:p>
            <a:pPr marL="0" lvl="0" indent="0" defTabSz="914400" eaLnBrk="0" fontAlgn="base" hangingPunct="0">
              <a:spcBef>
                <a:spcPct val="0"/>
              </a:spcBef>
              <a:spcAft>
                <a:spcPct val="0"/>
              </a:spcAft>
              <a:buClrTx/>
              <a:buNone/>
            </a:pPr>
            <a:endParaRPr lang="en-US" altLang="en-US" b="1" dirty="0" smtClean="0">
              <a:solidFill>
                <a:schemeClr val="tx1"/>
              </a:solidFill>
            </a:endParaRPr>
          </a:p>
          <a:p>
            <a:pPr marL="0" lvl="0" indent="0" defTabSz="914400" eaLnBrk="0" fontAlgn="base" hangingPunct="0">
              <a:spcBef>
                <a:spcPct val="0"/>
              </a:spcBef>
              <a:spcAft>
                <a:spcPct val="0"/>
              </a:spcAft>
              <a:buClrTx/>
              <a:buFontTx/>
              <a:buChar char="•"/>
            </a:pPr>
            <a:endParaRPr lang="en-US" b="1" dirty="0"/>
          </a:p>
        </p:txBody>
      </p:sp>
    </p:spTree>
    <p:extLst>
      <p:ext uri="{BB962C8B-B14F-4D97-AF65-F5344CB8AC3E}">
        <p14:creationId xmlns:p14="http://schemas.microsoft.com/office/powerpoint/2010/main" val="20355656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4275" y="109760"/>
            <a:ext cx="8911687" cy="804640"/>
          </a:xfrm>
        </p:spPr>
        <p:txBody>
          <a:bodyPr/>
          <a:lstStyle/>
          <a:p>
            <a:r>
              <a:rPr lang="en-US" b="1" dirty="0" smtClean="0"/>
              <a:t>Tools and Technologies</a:t>
            </a:r>
            <a:endParaRPr lang="en-US" b="1" dirty="0"/>
          </a:p>
        </p:txBody>
      </p:sp>
      <p:sp>
        <p:nvSpPr>
          <p:cNvPr id="3" name="Content Placeholder 2"/>
          <p:cNvSpPr>
            <a:spLocks noGrp="1"/>
          </p:cNvSpPr>
          <p:nvPr>
            <p:ph idx="1"/>
          </p:nvPr>
        </p:nvSpPr>
        <p:spPr>
          <a:xfrm>
            <a:off x="1743075" y="790575"/>
            <a:ext cx="9742487" cy="5867400"/>
          </a:xfrm>
        </p:spPr>
        <p:txBody>
          <a:bodyPr>
            <a:normAutofit lnSpcReduction="10000"/>
          </a:bodyPr>
          <a:lstStyle/>
          <a:p>
            <a:r>
              <a:rPr lang="en-US" dirty="0" smtClean="0"/>
              <a:t>Programming Language: Python</a:t>
            </a:r>
          </a:p>
          <a:p>
            <a:r>
              <a:rPr lang="en-US" dirty="0" smtClean="0"/>
              <a:t>Development </a:t>
            </a:r>
            <a:r>
              <a:rPr lang="en-US" dirty="0"/>
              <a:t>Environment / </a:t>
            </a:r>
            <a:r>
              <a:rPr lang="en-US" dirty="0" smtClean="0"/>
              <a:t>IDE </a:t>
            </a:r>
            <a:r>
              <a:rPr lang="en-US" dirty="0" err="1" smtClean="0"/>
              <a:t>Jupyter</a:t>
            </a:r>
            <a:r>
              <a:rPr lang="en-US" dirty="0" smtClean="0"/>
              <a:t> Notebook </a:t>
            </a:r>
          </a:p>
          <a:p>
            <a:r>
              <a:rPr lang="en-US" dirty="0" smtClean="0"/>
              <a:t>Data </a:t>
            </a:r>
            <a:r>
              <a:rPr lang="en-US" dirty="0"/>
              <a:t>Handling and Manipulation </a:t>
            </a:r>
            <a:r>
              <a:rPr lang="en-US" dirty="0" smtClean="0"/>
              <a:t>Libraries Pandas</a:t>
            </a:r>
          </a:p>
          <a:p>
            <a:r>
              <a:rPr lang="en-US" dirty="0" smtClean="0"/>
              <a:t>Data </a:t>
            </a:r>
            <a:r>
              <a:rPr lang="en-US" dirty="0"/>
              <a:t>Visualization </a:t>
            </a:r>
            <a:r>
              <a:rPr lang="en-US" dirty="0" smtClean="0"/>
              <a:t>Libraries </a:t>
            </a:r>
            <a:r>
              <a:rPr lang="en-US" dirty="0" err="1" smtClean="0"/>
              <a:t>Matplotlib</a:t>
            </a:r>
            <a:r>
              <a:rPr lang="en-US" dirty="0" smtClean="0"/>
              <a:t> Used </a:t>
            </a:r>
            <a:r>
              <a:rPr lang="en-US" dirty="0"/>
              <a:t>for plotting graphs such as churn distribution, histograms, and ROC curves</a:t>
            </a:r>
            <a:r>
              <a:rPr lang="en-US" dirty="0" smtClean="0"/>
              <a:t>. </a:t>
            </a:r>
            <a:r>
              <a:rPr lang="en-US" dirty="0" err="1" smtClean="0"/>
              <a:t>Seaborn</a:t>
            </a:r>
            <a:r>
              <a:rPr lang="en-US" dirty="0" smtClean="0"/>
              <a:t> Used </a:t>
            </a:r>
            <a:r>
              <a:rPr lang="en-US" dirty="0"/>
              <a:t>for advanced statistical visualization such as </a:t>
            </a:r>
            <a:r>
              <a:rPr lang="en-US" dirty="0" err="1"/>
              <a:t>heatmaps</a:t>
            </a:r>
            <a:r>
              <a:rPr lang="en-US" dirty="0"/>
              <a:t> and feature relationship plots</a:t>
            </a:r>
            <a:r>
              <a:rPr lang="en-US" dirty="0" smtClean="0"/>
              <a:t>.</a:t>
            </a:r>
          </a:p>
          <a:p>
            <a:r>
              <a:rPr lang="en-US" dirty="0" smtClean="0"/>
              <a:t>Machine </a:t>
            </a:r>
            <a:r>
              <a:rPr lang="en-US" dirty="0"/>
              <a:t>Learning </a:t>
            </a:r>
            <a:r>
              <a:rPr lang="en-US" dirty="0" smtClean="0"/>
              <a:t>Libraries </a:t>
            </a:r>
            <a:r>
              <a:rPr lang="en-US" dirty="0" err="1" smtClean="0"/>
              <a:t>Scikit</a:t>
            </a:r>
            <a:r>
              <a:rPr lang="en-US" dirty="0" smtClean="0"/>
              <a:t>-learn </a:t>
            </a:r>
            <a:r>
              <a:rPr lang="en-US" dirty="0"/>
              <a:t>(</a:t>
            </a:r>
            <a:r>
              <a:rPr lang="en-US" dirty="0" err="1"/>
              <a:t>sklearn</a:t>
            </a:r>
            <a:r>
              <a:rPr lang="en-US" dirty="0"/>
              <a:t>)Core library used for</a:t>
            </a:r>
            <a:r>
              <a:rPr lang="en-US" dirty="0" smtClean="0"/>
              <a:t>: train-test splitting scaling </a:t>
            </a:r>
            <a:r>
              <a:rPr lang="en-US" dirty="0"/>
              <a:t>(</a:t>
            </a:r>
            <a:r>
              <a:rPr lang="en-US" dirty="0" smtClean="0"/>
              <a:t>Standard Scaler)model </a:t>
            </a:r>
            <a:r>
              <a:rPr lang="en-US" dirty="0"/>
              <a:t>training (Logistic Regression, Random Forest)model evaluation (confusion matrix, classification report, </a:t>
            </a:r>
            <a:r>
              <a:rPr lang="en-US" dirty="0" smtClean="0"/>
              <a:t>ROC-AUC, ) </a:t>
            </a:r>
            <a:r>
              <a:rPr lang="en-US" dirty="0" err="1" smtClean="0"/>
              <a:t>hyperparameter</a:t>
            </a:r>
            <a:r>
              <a:rPr lang="en-US" dirty="0" smtClean="0"/>
              <a:t> </a:t>
            </a:r>
            <a:r>
              <a:rPr lang="en-US" dirty="0"/>
              <a:t>tuning (</a:t>
            </a:r>
            <a:r>
              <a:rPr lang="en-US" dirty="0" err="1"/>
              <a:t>GridSearchCV</a:t>
            </a:r>
            <a:r>
              <a:rPr lang="en-US" dirty="0"/>
              <a:t>)cross-validation (</a:t>
            </a:r>
            <a:r>
              <a:rPr lang="en-US" dirty="0" err="1"/>
              <a:t>StratifiedKFold</a:t>
            </a:r>
            <a:r>
              <a:rPr lang="en-US" dirty="0" smtClean="0"/>
              <a:t>)</a:t>
            </a:r>
          </a:p>
          <a:p>
            <a:r>
              <a:rPr lang="en-US" dirty="0" smtClean="0"/>
              <a:t>Handling Class Imbalance Imbalanced-learn </a:t>
            </a:r>
            <a:r>
              <a:rPr lang="en-US" dirty="0"/>
              <a:t>(</a:t>
            </a:r>
            <a:r>
              <a:rPr lang="en-US" dirty="0" err="1"/>
              <a:t>imblearn</a:t>
            </a:r>
            <a:r>
              <a:rPr lang="en-US" dirty="0"/>
              <a:t>)Used to solve </a:t>
            </a:r>
            <a:r>
              <a:rPr lang="en-US" dirty="0" smtClean="0"/>
              <a:t>class </a:t>
            </a:r>
            <a:r>
              <a:rPr lang="en-US" dirty="0"/>
              <a:t>imbalance with techniques like</a:t>
            </a:r>
            <a:r>
              <a:rPr lang="en-US" dirty="0" smtClean="0"/>
              <a:t>: SMOTE </a:t>
            </a:r>
            <a:r>
              <a:rPr lang="en-US" dirty="0"/>
              <a:t>(Synthetic Minority Oversampling </a:t>
            </a:r>
            <a:r>
              <a:rPr lang="en-US" dirty="0" smtClean="0"/>
              <a:t>Technique) </a:t>
            </a:r>
            <a:r>
              <a:rPr lang="en-US" dirty="0" err="1" smtClean="0"/>
              <a:t>SMOTETomekPipeline</a:t>
            </a:r>
            <a:r>
              <a:rPr lang="en-US" dirty="0" smtClean="0"/>
              <a:t> </a:t>
            </a:r>
            <a:r>
              <a:rPr lang="en-US" dirty="0"/>
              <a:t>integration for balanced training without data </a:t>
            </a:r>
            <a:r>
              <a:rPr lang="en-US" dirty="0" smtClean="0"/>
              <a:t>leakage</a:t>
            </a:r>
          </a:p>
          <a:p>
            <a:r>
              <a:rPr lang="en-US" dirty="0" smtClean="0"/>
              <a:t>Frameworks </a:t>
            </a:r>
            <a:r>
              <a:rPr lang="en-US" dirty="0" err="1" smtClean="0"/>
              <a:t>Scikit</a:t>
            </a:r>
            <a:r>
              <a:rPr lang="en-US" dirty="0" smtClean="0"/>
              <a:t>-learn Framework Used </a:t>
            </a:r>
            <a:r>
              <a:rPr lang="en-US" dirty="0"/>
              <a:t>as the main machine learning framework for training, evaluation, and deployment-ready modeling pipelines</a:t>
            </a:r>
            <a:r>
              <a:rPr lang="en-US" dirty="0" smtClean="0"/>
              <a:t>.</a:t>
            </a:r>
          </a:p>
          <a:p>
            <a:r>
              <a:rPr lang="en-US" dirty="0" smtClean="0"/>
              <a:t>Model Types Used: Logistic Regression, Random </a:t>
            </a:r>
            <a:r>
              <a:rPr lang="en-US" dirty="0"/>
              <a:t>Forest </a:t>
            </a:r>
            <a:r>
              <a:rPr lang="en-US" dirty="0" smtClean="0"/>
              <a:t>Classifier</a:t>
            </a:r>
          </a:p>
          <a:p>
            <a:r>
              <a:rPr lang="en-US" dirty="0" smtClean="0"/>
              <a:t>Evaluation Metrics Used: Classification </a:t>
            </a:r>
            <a:r>
              <a:rPr lang="en-US" dirty="0"/>
              <a:t>Report (Precision, Recall, </a:t>
            </a:r>
            <a:r>
              <a:rPr lang="en-US" dirty="0" smtClean="0"/>
              <a:t>F1-score, Confusion Matrix, ROC Curve, AUC </a:t>
            </a:r>
            <a:r>
              <a:rPr lang="en-US" dirty="0"/>
              <a:t>Score (Area Under Curve)</a:t>
            </a:r>
          </a:p>
        </p:txBody>
      </p:sp>
    </p:spTree>
    <p:extLst>
      <p:ext uri="{BB962C8B-B14F-4D97-AF65-F5344CB8AC3E}">
        <p14:creationId xmlns:p14="http://schemas.microsoft.com/office/powerpoint/2010/main" val="4286418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200" b="1" dirty="0"/>
              <a:t>Model Development</a:t>
            </a:r>
            <a:br>
              <a:rPr lang="en-US" sz="2200" b="1" dirty="0"/>
            </a:br>
            <a:r>
              <a:rPr lang="en-US" sz="2200" dirty="0"/>
              <a:t>Algorithms used:</a:t>
            </a:r>
            <a:br>
              <a:rPr lang="en-US" sz="2200" dirty="0"/>
            </a:br>
            <a:r>
              <a:rPr lang="en-US" sz="2200" dirty="0"/>
              <a:t>Logistic Regression</a:t>
            </a:r>
            <a:br>
              <a:rPr lang="en-US" sz="2200" dirty="0"/>
            </a:br>
            <a:r>
              <a:rPr lang="en-US" sz="2200" dirty="0"/>
              <a:t>Random Forest</a:t>
            </a:r>
            <a:r>
              <a:rPr lang="en-US" dirty="0"/>
              <a:t/>
            </a:r>
            <a:br>
              <a:rPr lang="en-US" dirty="0"/>
            </a:br>
            <a:endParaRPr lang="en-US" dirty="0"/>
          </a:p>
        </p:txBody>
      </p:sp>
      <p:sp>
        <p:nvSpPr>
          <p:cNvPr id="3" name="Content Placeholder 2"/>
          <p:cNvSpPr>
            <a:spLocks noGrp="1"/>
          </p:cNvSpPr>
          <p:nvPr>
            <p:ph idx="1"/>
          </p:nvPr>
        </p:nvSpPr>
        <p:spPr/>
        <p:txBody>
          <a:bodyPr/>
          <a:lstStyle/>
          <a:p>
            <a:pPr marL="0" indent="0">
              <a:buNone/>
            </a:pPr>
            <a:r>
              <a:rPr lang="en-US" b="1" dirty="0"/>
              <a:t> Model Evaluation Metrics</a:t>
            </a:r>
          </a:p>
          <a:p>
            <a:r>
              <a:rPr lang="en-US" dirty="0"/>
              <a:t>Accuracy</a:t>
            </a:r>
          </a:p>
          <a:p>
            <a:r>
              <a:rPr lang="en-US" dirty="0"/>
              <a:t>Precision</a:t>
            </a:r>
          </a:p>
          <a:p>
            <a:r>
              <a:rPr lang="en-US" dirty="0"/>
              <a:t>Recall (Sensitivity)</a:t>
            </a:r>
          </a:p>
          <a:p>
            <a:r>
              <a:rPr lang="en-US" dirty="0"/>
              <a:t>F1-score</a:t>
            </a:r>
          </a:p>
          <a:p>
            <a:r>
              <a:rPr lang="en-US" dirty="0"/>
              <a:t>ROC-AUC Curve</a:t>
            </a:r>
          </a:p>
          <a:p>
            <a:r>
              <a:rPr lang="en-US" dirty="0"/>
              <a:t>Confusion Matrix</a:t>
            </a:r>
          </a:p>
        </p:txBody>
      </p:sp>
    </p:spTree>
    <p:extLst>
      <p:ext uri="{BB962C8B-B14F-4D97-AF65-F5344CB8AC3E}">
        <p14:creationId xmlns:p14="http://schemas.microsoft.com/office/powerpoint/2010/main" val="42075279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a:t> </a:t>
            </a:r>
            <a:r>
              <a:rPr lang="en-US" b="1" dirty="0" smtClean="0"/>
              <a:t>       Methodology</a:t>
            </a:r>
            <a:endParaRPr lang="en-US" dirty="0"/>
          </a:p>
        </p:txBody>
      </p:sp>
      <p:sp>
        <p:nvSpPr>
          <p:cNvPr id="3" name="Content Placeholder 2"/>
          <p:cNvSpPr>
            <a:spLocks noGrp="1"/>
          </p:cNvSpPr>
          <p:nvPr>
            <p:ph idx="1"/>
          </p:nvPr>
        </p:nvSpPr>
        <p:spPr>
          <a:xfrm>
            <a:off x="2019300" y="1905000"/>
            <a:ext cx="9485312" cy="4006222"/>
          </a:xfrm>
        </p:spPr>
        <p:txBody>
          <a:bodyPr>
            <a:normAutofit/>
          </a:bodyPr>
          <a:lstStyle/>
          <a:p>
            <a:pPr marL="0" indent="0">
              <a:buNone/>
            </a:pPr>
            <a:r>
              <a:rPr lang="en-US" dirty="0" smtClean="0"/>
              <a:t>The </a:t>
            </a:r>
            <a:r>
              <a:rPr lang="en-US" dirty="0"/>
              <a:t>project followed a structured Data Science workflow:</a:t>
            </a:r>
          </a:p>
          <a:p>
            <a:r>
              <a:rPr lang="en-US" dirty="0"/>
              <a:t>1. Data loading and inspection</a:t>
            </a:r>
          </a:p>
          <a:p>
            <a:r>
              <a:rPr lang="en-US" dirty="0"/>
              <a:t>2. Data cleaning and missing value handling (median for numeric, mode for categorical)</a:t>
            </a:r>
          </a:p>
          <a:p>
            <a:r>
              <a:rPr lang="en-US" dirty="0"/>
              <a:t>3. Exploratory Data Analysis (EDA) with visualizations</a:t>
            </a:r>
          </a:p>
          <a:p>
            <a:r>
              <a:rPr lang="en-US" dirty="0"/>
              <a:t>4. Feature engineering (margin, subscribed power, churn encoding, date extraction)</a:t>
            </a:r>
          </a:p>
          <a:p>
            <a:r>
              <a:rPr lang="en-US" dirty="0"/>
              <a:t>5. Model training using Logistic Regression and Random Forest</a:t>
            </a:r>
          </a:p>
          <a:p>
            <a:r>
              <a:rPr lang="en-US" dirty="0"/>
              <a:t>6. Model evaluation using accuracy, confusion matrix, classification report, and ROC-AUC</a:t>
            </a:r>
          </a:p>
          <a:p>
            <a:r>
              <a:rPr lang="en-US" dirty="0"/>
              <a:t>7. Business recommendations and churn retention strategy development</a:t>
            </a:r>
          </a:p>
        </p:txBody>
      </p:sp>
    </p:spTree>
    <p:extLst>
      <p:ext uri="{BB962C8B-B14F-4D97-AF65-F5344CB8AC3E}">
        <p14:creationId xmlns:p14="http://schemas.microsoft.com/office/powerpoint/2010/main" val="10146780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8602" y="114299"/>
            <a:ext cx="9361398" cy="2459687"/>
          </a:xfrm>
        </p:spPr>
        <p:txBody>
          <a:bodyPr>
            <a:normAutofit fontScale="90000"/>
          </a:bodyPr>
          <a:lstStyle/>
          <a:p>
            <a:r>
              <a:rPr lang="en-US" sz="3100" b="1" dirty="0"/>
              <a:t>Exploratory Data Analysis (EDA) </a:t>
            </a:r>
            <a:r>
              <a:rPr lang="en-US" sz="3100" b="1" dirty="0" smtClean="0"/>
              <a:t/>
            </a:r>
            <a:br>
              <a:rPr lang="en-US" sz="3100" b="1" dirty="0" smtClean="0"/>
            </a:br>
            <a:r>
              <a:rPr lang="en-US" sz="3100" dirty="0"/>
              <a:t/>
            </a:r>
            <a:br>
              <a:rPr lang="en-US" sz="3100" dirty="0"/>
            </a:br>
            <a:r>
              <a:rPr lang="en-US" sz="1600" b="1" dirty="0" smtClean="0"/>
              <a:t>What it shows:</a:t>
            </a:r>
            <a:r>
              <a:rPr lang="en-US" sz="1600" dirty="0" smtClean="0"/>
              <a:t> No 1,936 </a:t>
            </a:r>
            <a:r>
              <a:rPr lang="en-US" sz="1600" dirty="0"/>
              <a:t>customers are retained (77.4%) and </a:t>
            </a:r>
            <a:r>
              <a:rPr lang="en-US" sz="1600" dirty="0" smtClean="0"/>
              <a:t>Yes 564 </a:t>
            </a:r>
            <a:r>
              <a:rPr lang="en-US" sz="1600" dirty="0"/>
              <a:t>have churned (22.6%) </a:t>
            </a:r>
            <a:r>
              <a:rPr lang="en-US" sz="1600" dirty="0" smtClean="0"/>
              <a:t>- an </a:t>
            </a:r>
            <a:r>
              <a:rPr lang="en-US" sz="1600" dirty="0"/>
              <a:t>imbalance ratio of approximately 3.4:1.</a:t>
            </a:r>
            <a:br>
              <a:rPr lang="en-US" sz="1600" dirty="0"/>
            </a:br>
            <a:r>
              <a:rPr lang="en-US" sz="1600" b="1" dirty="0"/>
              <a:t>Business implication:</a:t>
            </a:r>
            <a:r>
              <a:rPr lang="en-US" sz="1600" dirty="0"/>
              <a:t> This imbalance means a naive model that predicts "No churn" for every customer would achieve 77.4% accuracy while being completely useless. We must correct for this before training. From a business standpoint, each churning customer represents lost revenue  </a:t>
            </a:r>
            <a:r>
              <a:rPr lang="en-US" sz="1600" dirty="0" smtClean="0"/>
              <a:t>- understanding </a:t>
            </a:r>
            <a:r>
              <a:rPr lang="en-US" sz="1600" dirty="0"/>
              <a:t>the 22.6% is far more valuable than perfecting predictions on the 77.4% who stay.</a:t>
            </a:r>
            <a:br>
              <a:rPr lang="en-US" sz="1600" dirty="0"/>
            </a:br>
            <a:r>
              <a:rPr lang="en-US" sz="1600" b="1" dirty="0"/>
              <a:t>Action:</a:t>
            </a:r>
            <a:r>
              <a:rPr lang="en-US" sz="1600" dirty="0"/>
              <a:t> We will apply </a:t>
            </a:r>
            <a:r>
              <a:rPr lang="en-US" sz="1600" dirty="0" err="1" smtClean="0"/>
              <a:t>SMOTETomek</a:t>
            </a:r>
            <a:r>
              <a:rPr lang="en-US" sz="1600" dirty="0" smtClean="0"/>
              <a:t> </a:t>
            </a:r>
            <a:r>
              <a:rPr lang="en-US" sz="1600" dirty="0"/>
              <a:t>to balance the training data before model fitting.</a:t>
            </a:r>
            <a:br>
              <a:rPr lang="en-US" sz="1600" dirty="0"/>
            </a:br>
            <a:r>
              <a:rPr lang="en-US" sz="1100" dirty="0"/>
              <a:t/>
            </a:r>
            <a:br>
              <a:rPr lang="en-US" sz="1100" dirty="0"/>
            </a:br>
            <a:endParaRPr lang="en-US" sz="11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8602" y="2657474"/>
            <a:ext cx="9380448" cy="3933825"/>
          </a:xfrm>
        </p:spPr>
      </p:pic>
    </p:spTree>
    <p:extLst>
      <p:ext uri="{BB962C8B-B14F-4D97-AF65-F5344CB8AC3E}">
        <p14:creationId xmlns:p14="http://schemas.microsoft.com/office/powerpoint/2010/main" val="42752756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1450" y="1"/>
            <a:ext cx="8911687" cy="2686049"/>
          </a:xfrm>
        </p:spPr>
        <p:txBody>
          <a:bodyPr>
            <a:normAutofit fontScale="90000"/>
          </a:bodyPr>
          <a:lstStyle/>
          <a:p>
            <a:r>
              <a:rPr lang="en-US" sz="2800" b="1" dirty="0" smtClean="0"/>
              <a:t>Income Distribution of AEDC Customer</a:t>
            </a:r>
            <a:r>
              <a:rPr lang="en-US" dirty="0" smtClean="0"/>
              <a:t/>
            </a:r>
            <a:br>
              <a:rPr lang="en-US" dirty="0" smtClean="0"/>
            </a:br>
            <a:r>
              <a:rPr lang="en-US" sz="1800" dirty="0"/>
              <a:t/>
            </a:r>
            <a:br>
              <a:rPr lang="en-US" sz="1800" dirty="0"/>
            </a:br>
            <a:r>
              <a:rPr lang="en-US" sz="1800" b="1" dirty="0"/>
              <a:t>What it shows:</a:t>
            </a:r>
            <a:r>
              <a:rPr lang="en-US" sz="1800" dirty="0"/>
              <a:t> Retained customers have a mean income of ₦76,354 versus ₦76,580 for churned </a:t>
            </a:r>
            <a:r>
              <a:rPr lang="en-US" sz="1800" dirty="0" smtClean="0"/>
              <a:t>customers.</a:t>
            </a:r>
            <a:r>
              <a:rPr lang="en-US" sz="1800" dirty="0"/>
              <a:t/>
            </a:r>
            <a:br>
              <a:rPr lang="en-US" sz="1800" dirty="0"/>
            </a:br>
            <a:r>
              <a:rPr lang="en-US" sz="1800" b="1" dirty="0"/>
              <a:t>Business implication:</a:t>
            </a:r>
            <a:r>
              <a:rPr lang="en-US" sz="1800" dirty="0"/>
              <a:t> Income alone does not predict churn at AEDC. </a:t>
            </a:r>
            <a:r>
              <a:rPr lang="en-US" sz="1800" dirty="0" smtClean="0"/>
              <a:t>customers </a:t>
            </a:r>
            <a:r>
              <a:rPr lang="en-US" sz="1800" dirty="0"/>
              <a:t>across the income spectrum churn at similar rates. Churn is therefore not a low-income affordability </a:t>
            </a:r>
            <a:r>
              <a:rPr lang="en-US" sz="1800" dirty="0" smtClean="0"/>
              <a:t>problem,  </a:t>
            </a:r>
            <a:r>
              <a:rPr lang="en-US" sz="1800" dirty="0"/>
              <a:t>it is a service quality and billing problem. Retention strategies should not be targeted by income bracket; they should focus on service experience. AEDC should not offer income-based discounts as the primary retention lever.</a:t>
            </a:r>
            <a:br>
              <a:rPr lang="en-US" sz="1800" dirty="0"/>
            </a:br>
            <a:endParaRPr lang="en-US" sz="1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2676525"/>
            <a:ext cx="8343900" cy="3933825"/>
          </a:xfrm>
        </p:spPr>
      </p:pic>
    </p:spTree>
    <p:extLst>
      <p:ext uri="{BB962C8B-B14F-4D97-AF65-F5344CB8AC3E}">
        <p14:creationId xmlns:p14="http://schemas.microsoft.com/office/powerpoint/2010/main" val="40556028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9776" y="142875"/>
            <a:ext cx="9494837" cy="2505075"/>
          </a:xfrm>
        </p:spPr>
        <p:txBody>
          <a:bodyPr>
            <a:normAutofit fontScale="90000"/>
          </a:bodyPr>
          <a:lstStyle/>
          <a:p>
            <a:r>
              <a:rPr lang="en-US" sz="3200" b="1" dirty="0" smtClean="0"/>
              <a:t>Power Outage Frequency Distribution</a:t>
            </a:r>
            <a:br>
              <a:rPr lang="en-US" sz="3200" b="1" dirty="0" smtClean="0"/>
            </a:br>
            <a:r>
              <a:rPr lang="en-US" sz="1800" b="1" dirty="0"/>
              <a:t>What it shows:</a:t>
            </a:r>
            <a:r>
              <a:rPr lang="en-US" sz="1800" dirty="0"/>
              <a:t> Mean outage frequency is 4.61 for retained and 4.65 for churned </a:t>
            </a:r>
            <a:r>
              <a:rPr lang="en-US" sz="1800" dirty="0" smtClean="0"/>
              <a:t>- </a:t>
            </a:r>
            <a:r>
              <a:rPr lang="en-US" sz="1800" dirty="0"/>
              <a:t>nearly identical. The bar chart confirms no meaningful difference across all frequency levels.</a:t>
            </a:r>
            <a:br>
              <a:rPr lang="en-US" sz="1800" dirty="0"/>
            </a:br>
            <a:r>
              <a:rPr lang="en-US" sz="1800" b="1" dirty="0"/>
              <a:t>Business implication (counterintuitive):</a:t>
            </a:r>
            <a:r>
              <a:rPr lang="en-US" sz="1800" dirty="0"/>
              <a:t> Simply experiencing power outages does not reliably cause churn on its own. All AEDC customers experience frequent </a:t>
            </a:r>
            <a:r>
              <a:rPr lang="en-US" sz="1800" dirty="0" smtClean="0"/>
              <a:t>outages - it </a:t>
            </a:r>
            <a:r>
              <a:rPr lang="en-US" sz="1800" dirty="0"/>
              <a:t>is a market-wide condition. What matters is how AEDC responds to those outages. If outages are followed by quick resolution, transparent communication, and accurate billing, customers tolerate them. If outages are accompanied by unexplained billing spikes or long resolution times, that combination triggers churn. AEDC should pair outage-tracking with response-quality metrics.</a:t>
            </a:r>
            <a:r>
              <a:rPr lang="en-US" dirty="0"/>
              <a:t/>
            </a:r>
            <a:br>
              <a:rPr lang="en-US" dirty="0"/>
            </a:br>
            <a:r>
              <a:rPr lang="en-US" sz="3200" b="1" dirty="0"/>
              <a:t/>
            </a:r>
            <a:br>
              <a:rPr lang="en-US" sz="3200" b="1" dirty="0"/>
            </a:br>
            <a:r>
              <a:rPr lang="en-US" sz="3200" b="1" dirty="0" smtClean="0"/>
              <a:t> </a:t>
            </a:r>
            <a:endParaRPr lang="en-US" sz="18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9776" y="2667000"/>
            <a:ext cx="8505824" cy="3778250"/>
          </a:xfrm>
        </p:spPr>
      </p:pic>
    </p:spTree>
    <p:extLst>
      <p:ext uri="{BB962C8B-B14F-4D97-AF65-F5344CB8AC3E}">
        <p14:creationId xmlns:p14="http://schemas.microsoft.com/office/powerpoint/2010/main" val="22162561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6925" y="76199"/>
            <a:ext cx="9447213" cy="2238375"/>
          </a:xfrm>
        </p:spPr>
        <p:txBody>
          <a:bodyPr>
            <a:normAutofit fontScale="90000"/>
          </a:bodyPr>
          <a:lstStyle/>
          <a:p>
            <a:r>
              <a:rPr lang="en-US" sz="3200" b="1" dirty="0" smtClean="0"/>
              <a:t>Service Usage by churn status</a:t>
            </a:r>
            <a:br>
              <a:rPr lang="en-US" sz="3200" b="1" dirty="0" smtClean="0"/>
            </a:br>
            <a:r>
              <a:rPr lang="en-US" sz="1600" b="1" dirty="0" smtClean="0"/>
              <a:t>What </a:t>
            </a:r>
            <a:r>
              <a:rPr lang="en-US" sz="1600" b="1" dirty="0"/>
              <a:t>it shows:</a:t>
            </a:r>
            <a:r>
              <a:rPr lang="en-US" sz="1600" dirty="0"/>
              <a:t> Retained customers have higher median service usage (₦382) compared to churned customers (₦361). </a:t>
            </a:r>
            <a:br>
              <a:rPr lang="en-US" sz="1600" dirty="0"/>
            </a:br>
            <a:r>
              <a:rPr lang="en-US" sz="1600" b="1" dirty="0"/>
              <a:t>Business implication:</a:t>
            </a:r>
            <a:r>
              <a:rPr lang="en-US" sz="1600" dirty="0"/>
              <a:t> Low service usage is a strong early-warning indicator. Customers who are progressively reducing their electricity consumption </a:t>
            </a:r>
            <a:r>
              <a:rPr lang="en-US" sz="1600" dirty="0" smtClean="0"/>
              <a:t>- likely </a:t>
            </a:r>
            <a:r>
              <a:rPr lang="en-US" sz="1600" dirty="0"/>
              <a:t>substituting AEDC with a generator or solar system </a:t>
            </a:r>
            <a:r>
              <a:rPr lang="en-US" sz="1600" dirty="0" smtClean="0"/>
              <a:t>-  </a:t>
            </a:r>
            <a:r>
              <a:rPr lang="en-US" sz="1600" dirty="0"/>
              <a:t>display declining usage months before they formally disconnect. AEDC should implement a "usage velocity" alert: if a customer's consumption drops by 20% or more over two consecutive billing cycles, they should be automatically flagged for a proactive retention call. The time to intervene is while they are still a customer, not after disconnection.</a:t>
            </a:r>
            <a:br>
              <a:rPr lang="en-US" sz="1600" dirty="0"/>
            </a:br>
            <a:endParaRPr lang="en-US" sz="16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2176" y="2486025"/>
            <a:ext cx="7629524" cy="4248150"/>
          </a:xfrm>
        </p:spPr>
      </p:pic>
    </p:spTree>
    <p:extLst>
      <p:ext uri="{BB962C8B-B14F-4D97-AF65-F5344CB8AC3E}">
        <p14:creationId xmlns:p14="http://schemas.microsoft.com/office/powerpoint/2010/main" val="22524471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251" y="66675"/>
            <a:ext cx="8911687" cy="2495550"/>
          </a:xfrm>
        </p:spPr>
        <p:txBody>
          <a:bodyPr>
            <a:normAutofit fontScale="90000"/>
          </a:bodyPr>
          <a:lstStyle/>
          <a:p>
            <a:r>
              <a:rPr lang="en-US" sz="2800" b="1" dirty="0"/>
              <a:t>Class Imbalance: </a:t>
            </a:r>
            <a:r>
              <a:rPr lang="en-US" sz="2800" b="1" dirty="0" err="1"/>
              <a:t>SMOTETomek</a:t>
            </a:r>
            <a:r>
              <a:rPr lang="en-US" sz="2800" b="1" dirty="0"/>
              <a:t> </a:t>
            </a:r>
            <a:r>
              <a:rPr lang="en-US" sz="2800" b="1" dirty="0" smtClean="0"/>
              <a:t>Correction</a:t>
            </a:r>
            <a:br>
              <a:rPr lang="en-US" sz="2800" b="1" dirty="0" smtClean="0"/>
            </a:br>
            <a:r>
              <a:rPr lang="en-US" sz="2800" b="1" dirty="0" smtClean="0"/>
              <a:t/>
            </a:r>
            <a:br>
              <a:rPr lang="en-US" sz="2800" b="1" dirty="0" smtClean="0"/>
            </a:br>
            <a:r>
              <a:rPr lang="en-US" sz="1800" dirty="0"/>
              <a:t>Why imbalance matters · SMOTE oversampling · </a:t>
            </a:r>
            <a:r>
              <a:rPr lang="en-US" sz="1800" dirty="0" err="1"/>
              <a:t>Tomek</a:t>
            </a:r>
            <a:r>
              <a:rPr lang="en-US" sz="1800" dirty="0"/>
              <a:t> Links cleaning · Applied to training set only.</a:t>
            </a:r>
            <a:br>
              <a:rPr lang="en-US" sz="1800" dirty="0"/>
            </a:br>
            <a:r>
              <a:rPr lang="en-US" sz="1800" dirty="0"/>
              <a:t>The dataset has a 3.4:1 imbalance (77.4% retained vs 22.6% churned). While not extreme, this is sufficient to cause classifiers to underperform on the minority class </a:t>
            </a:r>
            <a:r>
              <a:rPr lang="en-US" sz="1800" dirty="0" smtClean="0"/>
              <a:t>- </a:t>
            </a:r>
            <a:r>
              <a:rPr lang="en-US" sz="1800" dirty="0"/>
              <a:t>which is precisely the class we need to predict. We implement </a:t>
            </a:r>
            <a:r>
              <a:rPr lang="en-US" sz="1800" b="1" dirty="0" err="1"/>
              <a:t>SMOTETomek</a:t>
            </a:r>
            <a:r>
              <a:rPr lang="en-US" sz="1800" dirty="0"/>
              <a:t>: a two-stage pipeline that first creates synthetic minority samples (SMOTE), then removes borderline majority samples that contaminate the decision boundary (</a:t>
            </a:r>
            <a:r>
              <a:rPr lang="en-US" sz="1800" dirty="0" err="1"/>
              <a:t>Tomek</a:t>
            </a:r>
            <a:r>
              <a:rPr lang="en-US" sz="1800" dirty="0"/>
              <a:t> Links).</a:t>
            </a:r>
            <a:br>
              <a:rPr lang="en-US" sz="1800" dirty="0"/>
            </a:br>
            <a:endParaRPr lang="en-US" sz="18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5251" y="2676525"/>
            <a:ext cx="9772650" cy="4105275"/>
          </a:xfrm>
        </p:spPr>
      </p:pic>
    </p:spTree>
    <p:extLst>
      <p:ext uri="{BB962C8B-B14F-4D97-AF65-F5344CB8AC3E}">
        <p14:creationId xmlns:p14="http://schemas.microsoft.com/office/powerpoint/2010/main" val="3182774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1" y="-1"/>
            <a:ext cx="9713912" cy="2466975"/>
          </a:xfrm>
        </p:spPr>
        <p:txBody>
          <a:bodyPr>
            <a:normAutofit fontScale="90000"/>
          </a:bodyPr>
          <a:lstStyle/>
          <a:p>
            <a:r>
              <a:rPr lang="en-US" sz="2200" b="1" dirty="0" smtClean="0"/>
              <a:t>Correlation </a:t>
            </a:r>
            <a:r>
              <a:rPr lang="en-US" sz="2200" b="1" dirty="0" err="1" smtClean="0"/>
              <a:t>Heatmap</a:t>
            </a:r>
            <a:r>
              <a:rPr lang="en-US" sz="2200" b="1" dirty="0" smtClean="0"/>
              <a:t> of AEDC Numeric Features</a:t>
            </a:r>
            <a:br>
              <a:rPr lang="en-US" sz="2200" b="1" dirty="0" smtClean="0"/>
            </a:br>
            <a:r>
              <a:rPr lang="en-US" sz="1600" b="1" dirty="0" smtClean="0"/>
              <a:t/>
            </a:r>
            <a:br>
              <a:rPr lang="en-US" sz="1600" b="1" dirty="0" smtClean="0"/>
            </a:br>
            <a:r>
              <a:rPr lang="en-US" sz="1200" b="1" dirty="0" smtClean="0"/>
              <a:t>Strong positive correlations (yellow, close to +1.0):</a:t>
            </a:r>
            <a:r>
              <a:rPr lang="en-US" sz="1200" dirty="0" smtClean="0"/>
              <a:t/>
            </a:r>
            <a:br>
              <a:rPr lang="en-US" sz="1200" dirty="0" smtClean="0"/>
            </a:br>
            <a:r>
              <a:rPr lang="en-US" sz="1200" dirty="0" smtClean="0"/>
              <a:t>• </a:t>
            </a:r>
            <a:r>
              <a:rPr lang="en-US" sz="1200" b="1" dirty="0" err="1" smtClean="0"/>
              <a:t>Amount_Paid</a:t>
            </a:r>
            <a:r>
              <a:rPr lang="en-US" sz="1200" b="1" dirty="0" smtClean="0"/>
              <a:t> -VAT </a:t>
            </a:r>
            <a:r>
              <a:rPr lang="en-US" sz="1200" b="1" dirty="0"/>
              <a:t>-</a:t>
            </a:r>
            <a:r>
              <a:rPr lang="en-US" sz="1200" b="1" dirty="0" smtClean="0"/>
              <a:t> </a:t>
            </a:r>
            <a:r>
              <a:rPr lang="en-US" sz="1200" b="1" dirty="0" err="1" smtClean="0"/>
              <a:t>Service_Charge</a:t>
            </a:r>
            <a:r>
              <a:rPr lang="en-US" sz="1200" dirty="0" smtClean="0"/>
              <a:t> (r ≈ 0.95+): These billing components are formulaically derived from </a:t>
            </a:r>
            <a:r>
              <a:rPr lang="en-US" sz="1200" dirty="0" err="1" smtClean="0"/>
              <a:t>Amount_Paid</a:t>
            </a:r>
            <a:r>
              <a:rPr lang="en-US" sz="1200" dirty="0" smtClean="0"/>
              <a:t>. They carry redundant information - including all three in the model would introduce </a:t>
            </a:r>
            <a:r>
              <a:rPr lang="en-US" sz="1200" dirty="0" err="1" smtClean="0"/>
              <a:t>multicollinearity</a:t>
            </a:r>
            <a:r>
              <a:rPr lang="en-US" sz="1200" dirty="0" smtClean="0"/>
              <a:t> for Logistic Regression. We keep </a:t>
            </a:r>
            <a:r>
              <a:rPr lang="en-US" sz="1200" dirty="0" err="1" smtClean="0"/>
              <a:t>Amount_Paid</a:t>
            </a:r>
            <a:r>
              <a:rPr lang="en-US" sz="1200" dirty="0" smtClean="0"/>
              <a:t> as the primary billing signal.</a:t>
            </a:r>
            <a:br>
              <a:rPr lang="en-US" sz="1200" dirty="0" smtClean="0"/>
            </a:br>
            <a:r>
              <a:rPr lang="en-US" sz="1200" dirty="0" smtClean="0"/>
              <a:t>• </a:t>
            </a:r>
            <a:r>
              <a:rPr lang="en-US" sz="1200" b="1" dirty="0" err="1" smtClean="0"/>
              <a:t>Energy_Consumption</a:t>
            </a:r>
            <a:r>
              <a:rPr lang="en-US" sz="1200" b="1" dirty="0" smtClean="0"/>
              <a:t> - </a:t>
            </a:r>
            <a:r>
              <a:rPr lang="en-US" sz="1200" b="1" dirty="0" err="1" smtClean="0"/>
              <a:t>Units_Purchased</a:t>
            </a:r>
            <a:r>
              <a:rPr lang="en-US" sz="1200" dirty="0" smtClean="0"/>
              <a:t> (r ≈ 0.99): Essentially the same measurement. We keep </a:t>
            </a:r>
            <a:r>
              <a:rPr lang="en-US" sz="1200" dirty="0" err="1" smtClean="0"/>
              <a:t>Units_Purchased</a:t>
            </a:r>
            <a:r>
              <a:rPr lang="en-US" sz="1200" dirty="0" smtClean="0"/>
              <a:t> and derive a </a:t>
            </a:r>
            <a:r>
              <a:rPr lang="en-US" sz="1200" dirty="0" err="1" smtClean="0"/>
              <a:t>Cost_Per_KWh</a:t>
            </a:r>
            <a:r>
              <a:rPr lang="en-US" sz="1200" dirty="0" smtClean="0"/>
              <a:t> feature.</a:t>
            </a:r>
            <a:br>
              <a:rPr lang="en-US" sz="1200" dirty="0" smtClean="0"/>
            </a:br>
            <a:r>
              <a:rPr lang="en-US" sz="1200" dirty="0" smtClean="0"/>
              <a:t>• </a:t>
            </a:r>
            <a:r>
              <a:rPr lang="en-US" sz="1200" b="1" dirty="0" err="1" smtClean="0"/>
              <a:t>Debt_Arrears</a:t>
            </a:r>
            <a:r>
              <a:rPr lang="en-US" sz="1200" b="1" dirty="0" smtClean="0"/>
              <a:t> - </a:t>
            </a:r>
            <a:r>
              <a:rPr lang="en-US" sz="1200" b="1" dirty="0" err="1" smtClean="0"/>
              <a:t>Debt_To_Income</a:t>
            </a:r>
            <a:r>
              <a:rPr lang="en-US" sz="1200" dirty="0" smtClean="0"/>
              <a:t>: Debt is the single most important churn driver in this dataset. The feature engineering section creates a </a:t>
            </a:r>
            <a:r>
              <a:rPr lang="en-US" sz="1200" dirty="0" err="1" smtClean="0"/>
              <a:t>Debt_To_Income</a:t>
            </a:r>
            <a:r>
              <a:rPr lang="en-US" sz="1200" dirty="0" smtClean="0"/>
              <a:t> ratio to </a:t>
            </a:r>
            <a:r>
              <a:rPr lang="en-US" sz="1200" dirty="0" err="1" smtClean="0"/>
              <a:t>normalise</a:t>
            </a:r>
            <a:r>
              <a:rPr lang="en-US" sz="1200" dirty="0" smtClean="0"/>
              <a:t> this signal across income levels.</a:t>
            </a:r>
            <a:br>
              <a:rPr lang="en-US" sz="1200" dirty="0" smtClean="0"/>
            </a:br>
            <a:r>
              <a:rPr lang="en-US" sz="1200" b="1" dirty="0" smtClean="0"/>
              <a:t>Weak correlations (dark blue, near zero):</a:t>
            </a:r>
            <a:r>
              <a:rPr lang="en-US" sz="1200" dirty="0" smtClean="0"/>
              <a:t> Age, </a:t>
            </a:r>
            <a:r>
              <a:rPr lang="en-US" sz="1200" dirty="0" err="1" smtClean="0"/>
              <a:t>Power_Outage_Frequency</a:t>
            </a:r>
            <a:r>
              <a:rPr lang="en-US" sz="1200" dirty="0" smtClean="0"/>
              <a:t>, and </a:t>
            </a:r>
            <a:r>
              <a:rPr lang="en-US" sz="1200" dirty="0" err="1" smtClean="0"/>
              <a:t>Billing_Accuracy</a:t>
            </a:r>
            <a:r>
              <a:rPr lang="en-US" sz="1200" dirty="0" smtClean="0"/>
              <a:t> show near-zero correlations with most other features  - they contribute independent information and should be retained</a:t>
            </a:r>
            <a:r>
              <a:rPr lang="en-US" sz="1000" dirty="0" smtClean="0"/>
              <a:t>.</a:t>
            </a:r>
            <a:endParaRPr lang="en-US" sz="1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5451" y="2581275"/>
            <a:ext cx="9191624" cy="4210050"/>
          </a:xfrm>
        </p:spPr>
      </p:pic>
    </p:spTree>
    <p:extLst>
      <p:ext uri="{BB962C8B-B14F-4D97-AF65-F5344CB8AC3E}">
        <p14:creationId xmlns:p14="http://schemas.microsoft.com/office/powerpoint/2010/main" val="674820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5975" y="138335"/>
            <a:ext cx="9418637" cy="1280890"/>
          </a:xfrm>
        </p:spPr>
        <p:txBody>
          <a:bodyPr/>
          <a:lstStyle/>
          <a:p>
            <a:r>
              <a:rPr lang="en-US" b="1" dirty="0"/>
              <a:t>Key feature engineering </a:t>
            </a:r>
            <a:r>
              <a:rPr lang="en-US" b="1" dirty="0" smtClean="0"/>
              <a:t>decisions</a:t>
            </a:r>
            <a:endParaRPr lang="en-US" dirty="0"/>
          </a:p>
        </p:txBody>
      </p:sp>
      <p:sp>
        <p:nvSpPr>
          <p:cNvPr id="3" name="Content Placeholder 2"/>
          <p:cNvSpPr>
            <a:spLocks noGrp="1"/>
          </p:cNvSpPr>
          <p:nvPr>
            <p:ph idx="1"/>
          </p:nvPr>
        </p:nvSpPr>
        <p:spPr>
          <a:xfrm>
            <a:off x="2028825" y="1181100"/>
            <a:ext cx="9475787" cy="4749172"/>
          </a:xfrm>
        </p:spPr>
        <p:txBody>
          <a:bodyPr>
            <a:normAutofit/>
          </a:bodyPr>
          <a:lstStyle/>
          <a:p>
            <a:pPr marL="0" indent="0">
              <a:buNone/>
            </a:pPr>
            <a:endParaRPr lang="en-US" dirty="0"/>
          </a:p>
          <a:p>
            <a:r>
              <a:rPr lang="en-US" b="1" dirty="0" err="1" smtClean="0"/>
              <a:t>Outage_Burden</a:t>
            </a:r>
            <a:r>
              <a:rPr lang="en-US" dirty="0"/>
              <a:t> = Frequency × Duration: A customer who experiences 10 short outages is differently affected than one who experiences 2 outages of 15 hours each. The product captures this compounding effect — the total hours of darkness experienced.</a:t>
            </a:r>
          </a:p>
          <a:p>
            <a:r>
              <a:rPr lang="en-US" dirty="0"/>
              <a:t> </a:t>
            </a:r>
            <a:r>
              <a:rPr lang="en-US" b="1" dirty="0" err="1"/>
              <a:t>Debt_To_Income</a:t>
            </a:r>
            <a:r>
              <a:rPr lang="en-US" dirty="0"/>
              <a:t>: A ₦40,000 debt arrear means very different things to a ₦30,000/month earner versus a ₦200,000/month earner. </a:t>
            </a:r>
            <a:r>
              <a:rPr lang="en-US" dirty="0" err="1"/>
              <a:t>Normalising</a:t>
            </a:r>
            <a:r>
              <a:rPr lang="en-US" dirty="0"/>
              <a:t> by income makes this feature meaningful across the income spectrum. This turned out to be the </a:t>
            </a:r>
            <a:r>
              <a:rPr lang="en-US" b="1" dirty="0"/>
              <a:t>strongest predictor of churn</a:t>
            </a:r>
            <a:r>
              <a:rPr lang="en-US" dirty="0"/>
              <a:t> in our dataset (see Feature Importance, Section 6</a:t>
            </a:r>
            <a:r>
              <a:rPr lang="en-US" dirty="0" smtClean="0"/>
              <a:t>).</a:t>
            </a:r>
            <a:endParaRPr lang="en-US" dirty="0"/>
          </a:p>
          <a:p>
            <a:r>
              <a:rPr lang="en-US" dirty="0"/>
              <a:t> </a:t>
            </a:r>
            <a:r>
              <a:rPr lang="en-US" b="1" dirty="0" err="1"/>
              <a:t>Sat_Complaint_Ratio</a:t>
            </a:r>
            <a:r>
              <a:rPr lang="en-US" dirty="0"/>
              <a:t>: A customer can have high complaints AND high satisfaction (resolution quality is good). This ratio differentiates those two patterns — a customer with 5 complaints but satisfaction score of 4.8 is actually well-served; one with 2 complaints and satisfaction 1.2 is at risk.</a:t>
            </a:r>
          </a:p>
          <a:p>
            <a:endParaRPr lang="en-US" dirty="0"/>
          </a:p>
        </p:txBody>
      </p:sp>
    </p:spTree>
    <p:extLst>
      <p:ext uri="{BB962C8B-B14F-4D97-AF65-F5344CB8AC3E}">
        <p14:creationId xmlns:p14="http://schemas.microsoft.com/office/powerpoint/2010/main" val="461965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4745" y="1"/>
            <a:ext cx="9149812" cy="2724150"/>
          </a:xfrm>
        </p:spPr>
        <p:txBody>
          <a:bodyPr>
            <a:noAutofit/>
          </a:bodyPr>
          <a:lstStyle/>
          <a:p>
            <a:r>
              <a:rPr lang="en-US" sz="1400" b="1" dirty="0" smtClean="0"/>
              <a:t>Confusion </a:t>
            </a:r>
            <a:r>
              <a:rPr lang="en-US" sz="1400" b="1" dirty="0"/>
              <a:t>Matrices for AEDC:</a:t>
            </a:r>
            <a:r>
              <a:rPr lang="en-US" sz="1400" dirty="0"/>
              <a:t/>
            </a:r>
            <a:br>
              <a:rPr lang="en-US" sz="1400" dirty="0"/>
            </a:br>
            <a:r>
              <a:rPr lang="en-US" sz="1400" dirty="0"/>
              <a:t>• </a:t>
            </a:r>
            <a:r>
              <a:rPr lang="en-US" sz="1400" b="1" dirty="0"/>
              <a:t>LR:</a:t>
            </a:r>
            <a:r>
              <a:rPr lang="en-US" sz="1400" dirty="0"/>
              <a:t> True Positives = 76 churned customers correctly identified; 37 missed (False Negatives). 57 false alarms (customers predicted to churn who stayed). For the retention team this means: call 133 people to save 76 real churners — a 57% hit rate.</a:t>
            </a:r>
            <a:br>
              <a:rPr lang="en-US" sz="1400" dirty="0"/>
            </a:br>
            <a:r>
              <a:rPr lang="en-US" sz="1400" dirty="0"/>
              <a:t>• </a:t>
            </a:r>
            <a:r>
              <a:rPr lang="en-US" sz="1400" b="1" dirty="0"/>
              <a:t>RF:</a:t>
            </a:r>
            <a:r>
              <a:rPr lang="en-US" sz="1400" dirty="0"/>
              <a:t> True Positives = 73 correctly identified churners; 40 missed. Only 3 false alarms. Hit rate of 96.1%. The RF is highly precise — nearly every customer it flags as churn-risk is a genuine churner. This is more efficient for the retention team, but the lower recall (64.6% vs LR's 67.3%) means 40 churners go undetected.</a:t>
            </a:r>
            <a:br>
              <a:rPr lang="en-US" sz="1400" dirty="0"/>
            </a:br>
            <a:r>
              <a:rPr lang="en-US" sz="1400" b="1" dirty="0"/>
              <a:t>Business decision:</a:t>
            </a:r>
            <a:r>
              <a:rPr lang="en-US" sz="1400" dirty="0"/>
              <a:t> If retention resources are abundant, use LR's higher recall (catch more churners). If retention resources are scarce and expensive, use RF's higher precision (don't waste calls on false alarms). For AEDC, we recommend using RF probabilities with a </a:t>
            </a:r>
            <a:r>
              <a:rPr lang="en-US" sz="1400" i="1" dirty="0"/>
              <a:t>lowered threshold</a:t>
            </a:r>
            <a:r>
              <a:rPr lang="en-US" sz="1400" dirty="0"/>
              <a:t> of 0.35 to increase recall while preserving most of RF's precision advantage.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4743" y="2724150"/>
            <a:ext cx="9149813" cy="4133850"/>
          </a:xfrm>
        </p:spPr>
      </p:pic>
    </p:spTree>
    <p:extLst>
      <p:ext uri="{BB962C8B-B14F-4D97-AF65-F5344CB8AC3E}">
        <p14:creationId xmlns:p14="http://schemas.microsoft.com/office/powerpoint/2010/main" val="3307043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4100" y="81184"/>
            <a:ext cx="8911687" cy="2623915"/>
          </a:xfrm>
        </p:spPr>
        <p:txBody>
          <a:bodyPr>
            <a:normAutofit fontScale="90000"/>
          </a:bodyPr>
          <a:lstStyle/>
          <a:p>
            <a:r>
              <a:rPr lang="en-US" sz="2700" b="1" dirty="0" smtClean="0"/>
              <a:t>ROC Curves: logistic Regression and Random Forest</a:t>
            </a:r>
            <a:br>
              <a:rPr lang="en-US" sz="2700" b="1" dirty="0" smtClean="0"/>
            </a:br>
            <a:r>
              <a:rPr lang="en-US" sz="1600" dirty="0" smtClean="0"/>
              <a:t/>
            </a:r>
            <a:br>
              <a:rPr lang="en-US" sz="1600" dirty="0" smtClean="0"/>
            </a:br>
            <a:r>
              <a:rPr lang="en-US" sz="1600" dirty="0" smtClean="0"/>
              <a:t>The </a:t>
            </a:r>
            <a:r>
              <a:rPr lang="en-US" sz="1600" dirty="0"/>
              <a:t>ROC curve plots True Positive Rate (catching churners) against False Positive Rate (false alarms) at every possible probability threshold. The AUC (Area Under Curve) </a:t>
            </a:r>
            <a:r>
              <a:rPr lang="en-US" sz="1600" dirty="0" err="1"/>
              <a:t>summarises</a:t>
            </a:r>
            <a:r>
              <a:rPr lang="en-US" sz="1600" dirty="0"/>
              <a:t> the overall discriminative ability.</a:t>
            </a:r>
            <a:br>
              <a:rPr lang="en-US" sz="1600" dirty="0"/>
            </a:br>
            <a:r>
              <a:rPr lang="en-US" sz="1600" dirty="0"/>
              <a:t>• </a:t>
            </a:r>
            <a:r>
              <a:rPr lang="en-US" sz="1600" b="1" dirty="0"/>
              <a:t>LR AUC = 0.829:</a:t>
            </a:r>
            <a:r>
              <a:rPr lang="en-US" sz="1600" dirty="0"/>
              <a:t> A randomly selected churned customer scores higher than a randomly selected retained customer 82.9% of the time. Strong performance.</a:t>
            </a:r>
            <a:br>
              <a:rPr lang="en-US" sz="1600" dirty="0"/>
            </a:br>
            <a:r>
              <a:rPr lang="en-US" sz="1600" dirty="0"/>
              <a:t>• </a:t>
            </a:r>
            <a:r>
              <a:rPr lang="en-US" sz="1600" b="1" dirty="0"/>
              <a:t>RF AUC = 0.823:</a:t>
            </a:r>
            <a:r>
              <a:rPr lang="en-US" sz="1600" dirty="0"/>
              <a:t> Similar overall discrimination. The ROC curves actually cross — RF dominates at high precision (low FPR) while LR is competitive at high recall settings.</a:t>
            </a:r>
            <a:br>
              <a:rPr lang="en-US" sz="1600" dirty="0"/>
            </a:br>
            <a:r>
              <a:rPr lang="en-US" sz="1600" b="1" dirty="0"/>
              <a:t>Deployment recommendation:</a:t>
            </a:r>
            <a:r>
              <a:rPr lang="en-US" sz="1600" dirty="0"/>
              <a:t> Use RF as the primary scoring engine with threshold = 0.35 for balanced recall/precision. Run LR in shadow mode for </a:t>
            </a:r>
            <a:r>
              <a:rPr lang="en-US" sz="1600" dirty="0" err="1"/>
              <a:t>explainability</a:t>
            </a:r>
            <a:r>
              <a:rPr lang="en-US" sz="1600" dirty="0"/>
              <a:t> and regulatory reporting.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4100" y="2905125"/>
            <a:ext cx="7810499" cy="3778250"/>
          </a:xfrm>
        </p:spPr>
      </p:pic>
    </p:spTree>
    <p:extLst>
      <p:ext uri="{BB962C8B-B14F-4D97-AF65-F5344CB8AC3E}">
        <p14:creationId xmlns:p14="http://schemas.microsoft.com/office/powerpoint/2010/main" val="2000644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5200" y="81185"/>
            <a:ext cx="8911687" cy="709390"/>
          </a:xfrm>
        </p:spPr>
        <p:txBody>
          <a:bodyPr>
            <a:normAutofit/>
          </a:bodyPr>
          <a:lstStyle/>
          <a:p>
            <a:r>
              <a:rPr lang="en-US" sz="2800" b="1" cap="all" dirty="0"/>
              <a:t>Final Recommendation to AEDC Management</a:t>
            </a:r>
          </a:p>
        </p:txBody>
      </p:sp>
      <p:sp>
        <p:nvSpPr>
          <p:cNvPr id="4" name="Rectangle 1"/>
          <p:cNvSpPr>
            <a:spLocks noGrp="1" noChangeArrowheads="1"/>
          </p:cNvSpPr>
          <p:nvPr>
            <p:ph idx="1"/>
          </p:nvPr>
        </p:nvSpPr>
        <p:spPr bwMode="auto">
          <a:xfrm>
            <a:off x="1745200" y="1206393"/>
            <a:ext cx="9399050" cy="4447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b="1" cap="all" dirty="0"/>
          </a:p>
          <a:p>
            <a:r>
              <a:rPr lang="en-US" sz="1600" b="1" dirty="0"/>
              <a:t>Deploy Random Forest as the primary churn predictor</a:t>
            </a:r>
            <a:r>
              <a:rPr lang="en-US" sz="1600" dirty="0"/>
              <a:t>, scoring all active customers monthly (or weekly during billing cycles). Customers with predicted churn probability ≥ 0.55 enter the "at-risk queue" for the Retention Team. Customers above 0.80 probability are escalated to senior retention officers with authority to offer tariff adjustments.</a:t>
            </a:r>
          </a:p>
          <a:p>
            <a:r>
              <a:rPr lang="en-US" sz="1600" b="1" dirty="0"/>
              <a:t>Keep Logistic Regression as a shadow model</a:t>
            </a:r>
            <a:r>
              <a:rPr lang="en-US" sz="1600" dirty="0"/>
              <a:t> for regulatory reporting and </a:t>
            </a:r>
            <a:r>
              <a:rPr lang="en-US" sz="1600" dirty="0" err="1"/>
              <a:t>explainability</a:t>
            </a:r>
            <a:r>
              <a:rPr lang="en-US" sz="1600" dirty="0"/>
              <a:t>. When a customer appeals a retention outreach, AEDC can produce a printable LR-based score card with plain English explanations: "Your account was flagged because of 5 unresolved complaints in the last 60 days and a 23-day payment delay on your last bill."</a:t>
            </a:r>
          </a:p>
          <a:p>
            <a:r>
              <a:rPr lang="en-US" sz="1600" dirty="0"/>
              <a:t>Together, these two models give AEDC both the </a:t>
            </a:r>
            <a:r>
              <a:rPr lang="en-US" sz="1600" i="1" dirty="0"/>
              <a:t>performance</a:t>
            </a:r>
            <a:r>
              <a:rPr lang="en-US" sz="1600" dirty="0"/>
              <a:t> to catch churning customers and the </a:t>
            </a:r>
            <a:r>
              <a:rPr lang="en-US" sz="1600" i="1" dirty="0"/>
              <a:t>transparency</a:t>
            </a:r>
            <a:r>
              <a:rPr lang="en-US" sz="1600" dirty="0"/>
              <a:t> to explain why — a combination required for responsible AI deployment in a regulated utility environment.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smtClean="0">
                <a:ln>
                  <a:noFill/>
                </a:ln>
                <a:solidFill>
                  <a:schemeClr val="tx1"/>
                </a:solidFill>
                <a:effectLst/>
              </a:rPr>
              <a:t>Churn is strongly influenced by </a:t>
            </a:r>
            <a:r>
              <a:rPr kumimoji="0" lang="en-US" altLang="en-US" sz="1600" b="1" i="0" u="none" strike="noStrike" cap="none" normalizeH="0" baseline="0" dirty="0" smtClean="0">
                <a:ln>
                  <a:noFill/>
                </a:ln>
                <a:solidFill>
                  <a:schemeClr val="tx1"/>
                </a:solidFill>
                <a:effectLst/>
              </a:rPr>
              <a:t>arrears</a:t>
            </a:r>
            <a:r>
              <a:rPr kumimoji="0" lang="en-US" altLang="en-US" sz="1600" b="0" i="0" u="none" strike="noStrike" cap="none" normalizeH="0" baseline="0" dirty="0" smtClean="0">
                <a:ln>
                  <a:noFill/>
                </a:ln>
                <a:solidFill>
                  <a:schemeClr val="tx1"/>
                </a:solidFill>
                <a:effectLst/>
              </a:rPr>
              <a:t>, </a:t>
            </a:r>
            <a:r>
              <a:rPr kumimoji="0" lang="en-US" altLang="en-US" sz="1600" b="1" i="0" u="none" strike="noStrike" cap="none" normalizeH="0" baseline="0" dirty="0" smtClean="0">
                <a:ln>
                  <a:noFill/>
                </a:ln>
                <a:solidFill>
                  <a:schemeClr val="tx1"/>
                </a:solidFill>
                <a:effectLst/>
              </a:rPr>
              <a:t>outage duration</a:t>
            </a:r>
            <a:r>
              <a:rPr kumimoji="0" lang="en-US" altLang="en-US" sz="1600" b="0" i="0" u="none" strike="noStrike" cap="none" normalizeH="0" baseline="0" dirty="0" smtClean="0">
                <a:ln>
                  <a:noFill/>
                </a:ln>
                <a:solidFill>
                  <a:schemeClr val="tx1"/>
                </a:solidFill>
                <a:effectLst/>
              </a:rPr>
              <a:t>, and </a:t>
            </a:r>
            <a:r>
              <a:rPr kumimoji="0" lang="en-US" altLang="en-US" sz="1600" b="1" i="0" u="none" strike="noStrike" cap="none" normalizeH="0" baseline="0" dirty="0" smtClean="0">
                <a:ln>
                  <a:noFill/>
                </a:ln>
                <a:solidFill>
                  <a:schemeClr val="tx1"/>
                </a:solidFill>
                <a:effectLst/>
              </a:rPr>
              <a:t>slow complaint resolution</a:t>
            </a:r>
            <a:r>
              <a:rPr kumimoji="0" lang="en-US" altLang="en-US" sz="1600" b="0" i="0" u="none" strike="noStrike" cap="none" normalizeH="0" baseline="0" dirty="0" smtClean="0">
                <a:ln>
                  <a:noFill/>
                </a:ln>
                <a:solidFill>
                  <a:schemeClr val="tx1"/>
                </a:solidFill>
                <a:effectLst/>
              </a:rPr>
              <a:t> </a:t>
            </a:r>
          </a:p>
          <a:p>
            <a:pPr marL="0" marR="0" lvl="0" indent="0"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smtClean="0">
                <a:ln>
                  <a:noFill/>
                </a:ln>
                <a:solidFill>
                  <a:schemeClr val="tx1"/>
                </a:solidFill>
                <a:effectLst/>
              </a:rPr>
              <a:t>Customers are leaving not just due to pricing, but due to </a:t>
            </a:r>
            <a:r>
              <a:rPr kumimoji="0" lang="en-US" altLang="en-US" sz="1600" b="1" i="0" u="none" strike="noStrike" cap="none" normalizeH="0" baseline="0" dirty="0" smtClean="0">
                <a:ln>
                  <a:noFill/>
                </a:ln>
                <a:solidFill>
                  <a:schemeClr val="tx1"/>
                </a:solidFill>
                <a:effectLst/>
              </a:rPr>
              <a:t>trust and service experience</a:t>
            </a:r>
            <a:r>
              <a:rPr kumimoji="0" lang="en-US" altLang="en-US" sz="1600" b="0" i="0" u="none" strike="noStrike" cap="none" normalizeH="0" baseline="0" dirty="0" smtClean="0">
                <a:ln>
                  <a:noFill/>
                </a:ln>
                <a:solidFill>
                  <a:schemeClr val="tx1"/>
                </a:solidFill>
                <a:effectLst/>
              </a:rPr>
              <a:t> </a:t>
            </a:r>
          </a:p>
          <a:p>
            <a:pPr marL="0" marR="0" lvl="0" indent="0"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smtClean="0">
                <a:ln>
                  <a:noFill/>
                </a:ln>
                <a:solidFill>
                  <a:schemeClr val="tx1"/>
                </a:solidFill>
                <a:effectLst/>
              </a:rPr>
              <a:t>The churn prediction model helps AEDC identify customers </a:t>
            </a:r>
            <a:r>
              <a:rPr kumimoji="0" lang="en-US" altLang="en-US" sz="1600" b="1" i="0" u="none" strike="noStrike" cap="none" normalizeH="0" baseline="0" dirty="0" smtClean="0">
                <a:ln>
                  <a:noFill/>
                </a:ln>
                <a:solidFill>
                  <a:schemeClr val="tx1"/>
                </a:solidFill>
                <a:effectLst/>
              </a:rPr>
              <a:t>before they leave</a:t>
            </a:r>
            <a:r>
              <a:rPr kumimoji="0" lang="en-US" altLang="en-US" sz="1600" b="0" i="0" u="none" strike="noStrike" cap="none" normalizeH="0" baseline="0" dirty="0" smtClean="0">
                <a:ln>
                  <a:noFill/>
                </a:ln>
                <a:solidFill>
                  <a:schemeClr val="tx1"/>
                </a:solidFill>
                <a:effectLst/>
              </a:rPr>
              <a:t> .</a:t>
            </a:r>
          </a:p>
        </p:txBody>
      </p:sp>
    </p:spTree>
    <p:extLst>
      <p:ext uri="{BB962C8B-B14F-4D97-AF65-F5344CB8AC3E}">
        <p14:creationId xmlns:p14="http://schemas.microsoft.com/office/powerpoint/2010/main" val="125245191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7011</TotalTime>
  <Words>857</Words>
  <Application>Microsoft Office PowerPoint</Application>
  <PresentationFormat>Widescreen</PresentationFormat>
  <Paragraphs>95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Century Gothic</vt:lpstr>
      <vt:lpstr>Times New Roman</vt:lpstr>
      <vt:lpstr>Wingdings 3</vt:lpstr>
      <vt:lpstr>Wisp</vt:lpstr>
      <vt:lpstr>Predicting Customer Churn for Abuja Electricity Distribution Company (AEDC)</vt:lpstr>
      <vt:lpstr>PowerPoint Presentation</vt:lpstr>
      <vt:lpstr>      Problem statement</vt:lpstr>
      <vt:lpstr>Project Overview </vt:lpstr>
      <vt:lpstr>       Data Cleaning and Preprocessing</vt:lpstr>
      <vt:lpstr>              Data Description </vt:lpstr>
      <vt:lpstr>Tools and Technologies</vt:lpstr>
      <vt:lpstr>Model Development Algorithms used: Logistic Regression Random Forest </vt:lpstr>
      <vt:lpstr>         Methodology</vt:lpstr>
      <vt:lpstr>Exploratory Data Analysis (EDA)   What it shows: No 1,936 customers are retained (77.4%) and Yes 564 have churned (22.6%) - an imbalance ratio of approximately 3.4:1. Business implication: This imbalance means a naive model that predicts "No churn" for every customer would achieve 77.4% accuracy while being completely useless. We must correct for this before training. From a business standpoint, each churning customer represents lost revenue  - understanding the 22.6% is far more valuable than perfecting predictions on the 77.4% who stay. Action: We will apply SMOTETomek to balance the training data before model fitting.  </vt:lpstr>
      <vt:lpstr>Income Distribution of AEDC Customer  What it shows: Retained customers have a mean income of ₦76,354 versus ₦76,580 for churned customers. Business implication: Income alone does not predict churn at AEDC. customers across the income spectrum churn at similar rates. Churn is therefore not a low-income affordability problem,  it is a service quality and billing problem. Retention strategies should not be targeted by income bracket; they should focus on service experience. AEDC should not offer income-based discounts as the primary retention lever. </vt:lpstr>
      <vt:lpstr>Power Outage Frequency Distribution What it shows: Mean outage frequency is 4.61 for retained and 4.65 for churned - nearly identical. The bar chart confirms no meaningful difference across all frequency levels. Business implication (counterintuitive): Simply experiencing power outages does not reliably cause churn on its own. All AEDC customers experience frequent outages - it is a market-wide condition. What matters is how AEDC responds to those outages. If outages are followed by quick resolution, transparent communication, and accurate billing, customers tolerate them. If outages are accompanied by unexplained billing spikes or long resolution times, that combination triggers churn. AEDC should pair outage-tracking with response-quality metrics.   </vt:lpstr>
      <vt:lpstr>Service Usage by churn status What it shows: Retained customers have higher median service usage (₦382) compared to churned customers (₦361).  Business implication: Low service usage is a strong early-warning indicator. Customers who are progressively reducing their electricity consumption - likely substituting AEDC with a generator or solar system -  display declining usage months before they formally disconnect. AEDC should implement a "usage velocity" alert: if a customer's consumption drops by 20% or more over two consecutive billing cycles, they should be automatically flagged for a proactive retention call. The time to intervene is while they are still a customer, not after disconnection. </vt:lpstr>
      <vt:lpstr>Class Imbalance: SMOTETomek Correction  Why imbalance matters · SMOTE oversampling · Tomek Links cleaning · Applied to training set only. The dataset has a 3.4:1 imbalance (77.4% retained vs 22.6% churned). While not extreme, this is sufficient to cause classifiers to underperform on the minority class - which is precisely the class we need to predict. We implement SMOTETomek: a two-stage pipeline that first creates synthetic minority samples (SMOTE), then removes borderline majority samples that contaminate the decision boundary (Tomek Links). </vt:lpstr>
      <vt:lpstr>Correlation Heatmap of AEDC Numeric Features  Strong positive correlations (yellow, close to +1.0): • Amount_Paid -VAT - Service_Charge (r ≈ 0.95+): These billing components are formulaically derived from Amount_Paid. They carry redundant information - including all three in the model would introduce multicollinearity for Logistic Regression. We keep Amount_Paid as the primary billing signal. • Energy_Consumption - Units_Purchased (r ≈ 0.99): Essentially the same measurement. We keep Units_Purchased and derive a Cost_Per_KWh feature. • Debt_Arrears - Debt_To_Income: Debt is the single most important churn driver in this dataset. The feature engineering section creates a Debt_To_Income ratio to normalise this signal across income levels. Weak correlations (dark blue, near zero): Age, Power_Outage_Frequency, and Billing_Accuracy show near-zero correlations with most other features  - they contribute independent information and should be retained.</vt:lpstr>
      <vt:lpstr>Key feature engineering decisions</vt:lpstr>
      <vt:lpstr>Confusion Matrices for AEDC: • LR: True Positives = 76 churned customers correctly identified; 37 missed (False Negatives). 57 false alarms (customers predicted to churn who stayed). For the retention team this means: call 133 people to save 76 real churners — a 57% hit rate. • RF: True Positives = 73 correctly identified churners; 40 missed. Only 3 false alarms. Hit rate of 96.1%. The RF is highly precise — nearly every customer it flags as churn-risk is a genuine churner. This is more efficient for the retention team, but the lower recall (64.6% vs LR's 67.3%) means 40 churners go undetected. Business decision: If retention resources are abundant, use LR's higher recall (catch more churners). If retention resources are scarce and expensive, use RF's higher precision (don't waste calls on false alarms). For AEDC, we recommend using RF probabilities with a lowered threshold of 0.35 to increase recall while preserving most of RF's precision advantage.</vt:lpstr>
      <vt:lpstr>ROC Curves: logistic Regression and Random Forest  The ROC curve plots True Positive Rate (catching churners) against False Positive Rate (false alarms) at every possible probability threshold. The AUC (Area Under Curve) summarises the overall discriminative ability. • LR AUC = 0.829: A randomly selected churned customer scores higher than a randomly selected retained customer 82.9% of the time. Strong performance. • RF AUC = 0.823: Similar overall discrimination. The ROC curves actually cross — RF dominates at high precision (low FPR) while LR is competitive at high recall settings. Deployment recommendation: Use RF as the primary scoring engine with threshold = 0.35 for balanced recall/precision. Run LR in shadow mode for explainability and regulatory reporting.</vt:lpstr>
      <vt:lpstr>Final Recommendation to AEDC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WESOnline Mentorship Program Capstone Project</dc:title>
  <dc:creator>USER</dc:creator>
  <cp:lastModifiedBy>USER</cp:lastModifiedBy>
  <cp:revision>54</cp:revision>
  <dcterms:created xsi:type="dcterms:W3CDTF">2026-04-07T12:45:28Z</dcterms:created>
  <dcterms:modified xsi:type="dcterms:W3CDTF">2026-04-17T10:20:53Z</dcterms:modified>
</cp:coreProperties>
</file>